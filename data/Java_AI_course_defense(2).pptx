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  <p:sldMasterId id="2147483700" r:id="rId25"/>
    <p:sldMasterId id="2147483702" r:id="rId26"/>
    <p:sldMasterId id="2147483704" r:id="rId27"/>
    <p:sldMasterId id="2147483706" r:id="rId28"/>
    <p:sldMasterId id="2147483708" r:id="rId29"/>
    <p:sldMasterId id="2147483710" r:id="rId30"/>
  </p:sldMasterIdLst>
  <p:notesMasterIdLst>
    <p:notesMasterId r:id="rId31"/>
  </p:notes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notesMaster" Target="notesMasters/notesMaster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dt" idx="8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ftr" idx="8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sldNum" idx="9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001EF7B-09D9-4FA9-A52C-975AAFC68D84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1.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9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2.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rpd.md, sections 2–3 and 6–7.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rpd.md, sections 6–7 (competencies, roles, and thematic plan).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9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4.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9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5.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rpd.md, section 7.3.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GitHub repository Project/README.md at commit 23594a3c4e1c98532aeb6ac093e4c4e4c4733618: https://github.com/Stasychbr/top_ai_2026/blob/main/Project/README.md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9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6.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GitHub repository README.md and directory tree at commit 23594a3c4e1c98532aeb6ac093e4c4e4c4733618: https://github.com/Stasychbr/top_ai_2026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1.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9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3F36FF-4849-4589-88CC-CC2DEF4DD9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27539E-1BC0-4366-B8AE-B974B7819E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DB5F199-D66A-44AB-804A-039A5A1923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A8FB3EF-C839-498E-B8EF-07C2E506F9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310242B-E726-4FFF-AA69-6C70D609A6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96FF3E7-86E0-4BBB-9482-E20D20EB97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73207F7-98F9-4042-AFA6-163E6B25E7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7068518-E080-481B-AAB5-F212BF103A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C1E1B9A-8B9A-4269-B116-78E7FCAB72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DB39834-4B92-438C-9A1C-893B592348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675D4B6-22B8-4B09-BF70-583DD350C5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ACBEB69-5477-4387-B302-472DD24C4C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BC3E2E8-168D-4CC4-9125-28C53CA392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84854CC-5A16-420E-8113-C8480DBC54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D52027B-11EB-485F-BDC3-FF65286FD7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01F1C52-76B7-4B75-B249-30DC1B231D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3CAA021-5C0E-47F3-AD39-B8089BC3F6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2D55E4C-5869-43FF-B40C-2AA76FE640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38D6947-3A30-495B-96D9-A91F5F4D2F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19D2644-ECBC-491F-BE44-3D77CEF96F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8FA5011-54A6-4FC0-AA09-344B9666A9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CC52F1F2-4046-46A7-B304-020BA82E64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6B702CE-4D4C-45BC-B4CC-FD2959C591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69A24922-80D0-4B21-AE6A-335BEFFE78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BEBB21C-CAB6-45D7-9A6D-7DAE6C0ACB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9EB9A80F-6ED7-4CAB-AABA-0A68B275C4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7EA21CF0-A3F1-44A9-BC18-B81AA82CD9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126A105B-CE2D-479E-9D93-0CF7DA4EBF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58ADCFB-6715-4D7D-A8D4-8054F1B82D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AAB54E01-5BED-4D54-88DF-5681098AEC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6B8250F-F8F8-4BA2-8BE8-174A6436C8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9DC2B0FD-78D4-45E7-A56C-22C0980690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61B788C4-D6D4-4330-AEE0-DE6CF826D4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DC70D6DF-6A0D-4CB4-A240-3E1B21FB21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F745865B-E9B4-4F92-B0FC-1C261EFD36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A62D36-347C-4C74-A444-5FF7DDCB6B21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352A80-8269-4471-B1C8-20993CED5E2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128ACC-8716-4889-8C1F-C47E3BE6D4A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1F06A-B3E3-4986-B53B-976739A102D2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0831A3-7456-4553-8E59-3EBD08FF5B9E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5F1882-62B4-400A-87DB-4A85F54BD698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1864D2-A7ED-4828-B0B6-062C22129AE4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47BF10-9DC8-4A5F-BC25-7CF0162CE9D7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5B3588-982D-4DA7-B160-7B4A316FFA03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FB7303-2116-4AA9-95F7-37323C255283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55C60C-0407-4AEF-A512-07BAA2503A5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CFAD12-135D-453A-86E3-FB5708938F01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0C715E-F601-405C-BC15-B9E1C395B1F2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056EE2-7AC2-4AB1-BC0F-C5BE1931A473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D80C57-2DFD-4F1B-BB20-7FD1E0BA25D4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DC8111-E6F5-4A3F-9A3A-81B70E42E05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678569-AFFC-40C9-B142-7C891B44AE32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A36297-5DBD-4838-A015-9DD3B14DE7DF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38D047-710F-4A05-9FC5-6FB6EDB6E08C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702866-3CF4-4A44-8B83-61FC41A01A9E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360451-C0E2-47D0-AFA3-26E53BBEE876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3D82FD-96E7-41E2-83DC-B2ADA79E17F5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B31E7C-F9A0-4FEF-9C29-14C840170CAE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779006-8E0B-4AFC-9DAE-D0918FB42F7C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ED1CC6-2131-481B-998E-C0C0CFFA0688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DFD98E-B5E3-4A26-AA71-4FE450AF31E3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FC3A5C-DF54-4CDF-A427-4D0855EBE6A3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A0A0E6-0B47-4FC9-B11A-C46F117C87FF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477E55-BBE0-4A44-8C6B-CFFD7EDA6742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Stasychbr/top_ai_2026" TargetMode="External"/><Relationship Id="rId3" Type="http://schemas.openxmlformats.org/officeDocument/2006/relationships/slideLayout" Target="../slideLayouts/slideLayout2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Рисунок 6" descr=""/>
          <p:cNvPicPr/>
          <p:nvPr/>
        </p:nvPicPr>
        <p:blipFill>
          <a:blip r:embed="rId1"/>
          <a:stretch/>
        </p:blipFill>
        <p:spPr>
          <a:xfrm>
            <a:off x="0" y="1075320"/>
            <a:ext cx="847080" cy="1933920"/>
          </a:xfrm>
          <a:prstGeom prst="rect">
            <a:avLst/>
          </a:prstGeom>
          <a:ln w="0">
            <a:noFill/>
          </a:ln>
        </p:spPr>
      </p:pic>
      <p:sp>
        <p:nvSpPr>
          <p:cNvPr id="149" name="Прямоугольник 11"/>
          <p:cNvSpPr/>
          <p:nvPr/>
        </p:nvSpPr>
        <p:spPr>
          <a:xfrm>
            <a:off x="0" y="3923640"/>
            <a:ext cx="12190680" cy="29322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150" name="Рисунок 10" descr=""/>
          <p:cNvPicPr/>
          <p:nvPr/>
        </p:nvPicPr>
        <p:blipFill>
          <a:blip r:embed="rId2"/>
          <a:stretch/>
        </p:blipFill>
        <p:spPr>
          <a:xfrm>
            <a:off x="8764200" y="13629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76440" y="4249080"/>
            <a:ext cx="9142560" cy="171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Java-разработка для систем искусственного интеллекта:</a:t>
            </a:r>
            <a:endParaRPr b="0" lang="ru-RU" sz="2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ООП и обработка данных</a:t>
            </a:r>
            <a:endParaRPr b="0" lang="ru-RU" sz="2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76440" y="5936760"/>
            <a:ext cx="9142560" cy="65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Команда проекта ДПО «Топ-ИИ» · 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Гостин А. М. · Подколзин В. В. · Кирпиченко С. Р. ·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Ржаникова Е. Д. · Ермолаева О. С. · Дмитриев Е. А. · (С) · 2026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3" name="Рисунок 4" descr=""/>
          <p:cNvPicPr/>
          <p:nvPr/>
        </p:nvPicPr>
        <p:blipFill>
          <a:blip r:embed="rId3"/>
          <a:stretch/>
        </p:blipFill>
        <p:spPr>
          <a:xfrm>
            <a:off x="676440" y="386280"/>
            <a:ext cx="5320800" cy="328320"/>
          </a:xfrm>
          <a:prstGeom prst="rect">
            <a:avLst/>
          </a:prstGeom>
          <a:ln w="0">
            <a:noFill/>
          </a:ln>
        </p:spPr>
      </p:pic>
      <p:pic>
        <p:nvPicPr>
          <p:cNvPr id="154" name="Рисунок 8" descr=""/>
          <p:cNvPicPr/>
          <p:nvPr/>
        </p:nvPicPr>
        <p:blipFill>
          <a:blip r:embed="rId4"/>
          <a:stretch/>
        </p:blipFill>
        <p:spPr>
          <a:xfrm>
            <a:off x="9823320" y="391680"/>
            <a:ext cx="1690920" cy="328320"/>
          </a:xfrm>
          <a:prstGeom prst="rect">
            <a:avLst/>
          </a:prstGeom>
          <a:ln w="0">
            <a:noFill/>
          </a:ln>
        </p:spPr>
      </p:pic>
      <p:sp>
        <p:nvSpPr>
          <p:cNvPr id="155" name="Подзаголовок 2"/>
          <p:cNvSpPr/>
          <p:nvPr/>
        </p:nvSpPr>
        <p:spPr>
          <a:xfrm>
            <a:off x="676440" y="3011040"/>
            <a:ext cx="9142560" cy="9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43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Проект рабочей программы дисциплины</a:t>
            </a:r>
            <a:endParaRPr b="0" lang="ru-RU" sz="143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43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и цифрового фонда оценочных средств</a:t>
            </a:r>
            <a:endParaRPr b="0" lang="ru-RU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Прямоугольник 3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157" name="Рисунок 12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8600" cy="8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Актуальность и целеполагание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Подзаголовок 2"/>
          <p:cNvSpPr/>
          <p:nvPr/>
        </p:nvSpPr>
        <p:spPr>
          <a:xfrm>
            <a:off x="722880" y="182880"/>
            <a:ext cx="10514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Скругленный прямоугольник 7"/>
          <p:cNvSpPr/>
          <p:nvPr/>
        </p:nvSpPr>
        <p:spPr>
          <a:xfrm>
            <a:off x="412560" y="1701360"/>
            <a:ext cx="11207160" cy="48585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161" name="s2-heading-1"/>
          <p:cNvSpPr/>
          <p:nvPr/>
        </p:nvSpPr>
        <p:spPr>
          <a:xfrm>
            <a:off x="876240" y="1896480"/>
            <a:ext cx="3103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Для кого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s2-bullets-1"/>
          <p:cNvSpPr/>
          <p:nvPr/>
        </p:nvSpPr>
        <p:spPr>
          <a:xfrm>
            <a:off x="876240" y="2268000"/>
            <a:ext cx="3103560" cy="13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Студенты ИТ-направлений, которым нужна современная база ООП и серверной разработки.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Инженеры по данным и архитекторы ИИ.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s2-heading-2"/>
          <p:cNvSpPr/>
          <p:nvPr/>
        </p:nvSpPr>
        <p:spPr>
          <a:xfrm>
            <a:off x="4381560" y="1896480"/>
            <a:ext cx="3103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Почему эта дисциплина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2-bullets-2"/>
          <p:cNvSpPr/>
          <p:nvPr/>
        </p:nvSpPr>
        <p:spPr>
          <a:xfrm>
            <a:off x="4381560" y="2268000"/>
            <a:ext cx="3103560" cy="13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Java и ООП формируют базовую инженерную подготовку разработчика в любой области, включая ИИ.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ИИ-системам нужны надёжные компоненты, сервисы и ETL-пайплайны.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s2-heading-3"/>
          <p:cNvSpPr/>
          <p:nvPr/>
        </p:nvSpPr>
        <p:spPr>
          <a:xfrm>
            <a:off x="7886880" y="1896480"/>
            <a:ext cx="3103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Что оригинального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2-bullets-3"/>
          <p:cNvSpPr/>
          <p:nvPr/>
        </p:nvSpPr>
        <p:spPr>
          <a:xfrm>
            <a:off x="7886880" y="2268000"/>
            <a:ext cx="3103560" cy="13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Практическое задание развивается от класса до серверного сервиса.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 встроен в проверяемый инженерный цикл.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Приобретаются навыки командной работы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7" name=""/>
          <p:cNvGrpSpPr/>
          <p:nvPr/>
        </p:nvGrpSpPr>
        <p:grpSpPr>
          <a:xfrm>
            <a:off x="781200" y="3708000"/>
            <a:ext cx="10628640" cy="899280"/>
            <a:chOff x="781200" y="3708000"/>
            <a:chExt cx="10628640" cy="899280"/>
          </a:xfrm>
        </p:grpSpPr>
        <p:sp>
          <p:nvSpPr>
            <p:cNvPr id="168" name="s2-goal-band"/>
            <p:cNvSpPr/>
            <p:nvPr/>
          </p:nvSpPr>
          <p:spPr>
            <a:xfrm>
              <a:off x="781200" y="3708000"/>
              <a:ext cx="10628640" cy="899280"/>
            </a:xfrm>
            <a:prstGeom prst="roundRect">
              <a:avLst>
                <a:gd name="adj" fmla="val 8929"/>
              </a:avLst>
            </a:prstGeom>
            <a:noFill/>
            <a:ln w="9525">
              <a:solidFill>
                <a:srgbClr val="bcd0e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9" name="s2-goal-heading"/>
            <p:cNvSpPr/>
            <p:nvPr/>
          </p:nvSpPr>
          <p:spPr>
            <a:xfrm>
              <a:off x="990720" y="3748680"/>
              <a:ext cx="1427400" cy="26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trike="noStrike" u="none">
                  <a:solidFill>
                    <a:srgbClr val="06498f"/>
                  </a:solidFill>
                  <a:uFillTx/>
                  <a:latin typeface="Arial"/>
                  <a:ea typeface="Arial"/>
                </a:rPr>
                <a:t>Цель:</a:t>
              </a:r>
              <a:endParaRPr b="0" lang="ru-RU" sz="13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0" name="s2-goal"/>
            <p:cNvSpPr/>
            <p:nvPr/>
          </p:nvSpPr>
          <p:spPr>
            <a:xfrm>
              <a:off x="990720" y="4053240"/>
              <a:ext cx="10171440" cy="45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trike="noStrike" u="none">
                  <a:solidFill>
                    <a:srgbClr val="17324d"/>
                  </a:solidFill>
                  <a:uFillTx/>
                  <a:latin typeface="Arial"/>
                  <a:ea typeface="Arial"/>
                </a:rPr>
                <a:t>Сформировать системные навыки Java-разработки для создания надёжного, масштабируемого серверного ПО и ETL-решений с осознанным применением ИИ-инструментов.</a:t>
              </a:r>
              <a:endParaRPr b="0" lang="ru-RU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71" name="slide-number-1"/>
          <p:cNvSpPr/>
          <p:nvPr/>
        </p:nvSpPr>
        <p:spPr>
          <a:xfrm>
            <a:off x="11239560" y="6581880"/>
            <a:ext cx="360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1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2-goal-band"/>
          <p:cNvSpPr/>
          <p:nvPr/>
        </p:nvSpPr>
        <p:spPr>
          <a:xfrm>
            <a:off x="781200" y="4752000"/>
            <a:ext cx="10628640" cy="1547280"/>
          </a:xfrm>
          <a:prstGeom prst="roundRect">
            <a:avLst>
              <a:gd name="adj" fmla="val 8929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s2-goal-heading"/>
          <p:cNvSpPr/>
          <p:nvPr/>
        </p:nvSpPr>
        <p:spPr>
          <a:xfrm>
            <a:off x="990720" y="4828680"/>
            <a:ext cx="2248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Задачи дисциплины: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s2-goal"/>
          <p:cNvSpPr/>
          <p:nvPr/>
        </p:nvSpPr>
        <p:spPr>
          <a:xfrm>
            <a:off x="990720" y="5025240"/>
            <a:ext cx="1034856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Освоить ООП-парадигму.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разрабатывать прикладные решения на Java.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Сформировать навыки многопоточного программирования и работы с реляционными БД.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создавать ETL-пайплайны с обработкой ошибок, логированием, метриками и идемпотентной загрузкой.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применять ИИ-инструменты для генерации, рефакторинга и проверки кода без потери инженерного контроля.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Прямоугольник 3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176" name="Рисунок 12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461520"/>
            <a:ext cx="10398600" cy="8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Состав и содержание программы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Подзаголовок 2"/>
          <p:cNvSpPr/>
          <p:nvPr/>
        </p:nvSpPr>
        <p:spPr>
          <a:xfrm>
            <a:off x="722880" y="182880"/>
            <a:ext cx="10514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Скругленный прямоугольник 7"/>
          <p:cNvSpPr/>
          <p:nvPr/>
        </p:nvSpPr>
        <p:spPr>
          <a:xfrm>
            <a:off x="412560" y="1260000"/>
            <a:ext cx="11207160" cy="529992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graphicFrame>
        <p:nvGraphicFramePr>
          <p:cNvPr id="180" name=""/>
          <p:cNvGraphicFramePr/>
          <p:nvPr/>
        </p:nvGraphicFramePr>
        <p:xfrm>
          <a:off x="710280" y="1518120"/>
          <a:ext cx="11062080" cy="3897720"/>
        </p:xfrm>
        <a:graphic>
          <a:graphicData uri="http://schemas.openxmlformats.org/drawingml/2006/table">
            <a:tbl>
              <a:tblPr/>
              <a:tblGrid>
                <a:gridCol w="298080"/>
                <a:gridCol w="1772280"/>
                <a:gridCol w="595800"/>
                <a:gridCol w="1070640"/>
                <a:gridCol w="1315440"/>
                <a:gridCol w="846360"/>
                <a:gridCol w="5163840"/>
              </a:tblGrid>
              <a:tr h="27972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№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Модуль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Часов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Виды занятий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Компетенции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Уровень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Накопительный результат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1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Основы ООП, промптинг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Лек - 4,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Лаб - 6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Предметная модель, контракты, наследование и полиморфизм, основы промптинга, генерация документации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Коллекции, generics, исключения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Типобезопасная обработка, проверка и журналирование,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генерация тестов, code review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3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Ввод-вывод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CSV/JSON/XML-представления одной предметной области,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генерация тестовых наборов данных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Многопоточность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Безопасная конкурентная обработка нескольких источников,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создание стресс тестов с помощью ИИ-инструментов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5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Базы данных и JDBC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DAO, транзакции, batch insert и UPSERT в PostgreSQL,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промпты для работы с БД, проверка rollback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ETL-пайплайн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PL-2.2;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Б,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Extract–Transform–Load, DLQ, метрики, идемпотентность,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ETL-промпты для интеграционного тестирования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7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ИИ-инструменты и мини-проект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Лаб - 2,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Проект - 4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PL-2.1; PL-2.2;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С,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С,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Вайб кодинг с code review, проверяемая работа с агентом и серверный ETL-сервис. Практическое закрепление и развитие навыков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5480"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Контроль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8.75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Экзамен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 PL-2.2;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С,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</a:rPr>
                        <a:t>С, Б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Теоретическое закрепление знаний по курсу 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1" name="s3-hours"/>
          <p:cNvSpPr/>
          <p:nvPr/>
        </p:nvSpPr>
        <p:spPr>
          <a:xfrm>
            <a:off x="800280" y="5478120"/>
            <a:ext cx="325620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Трудоемкость 108 часов / 3 з.е.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16 ч. лекций · 30 ч. лабораторных ·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4 ч. мини-проекта ·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58 ч. самостоятельной работы.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s3-roles"/>
          <p:cNvSpPr/>
          <p:nvPr/>
        </p:nvSpPr>
        <p:spPr>
          <a:xfrm>
            <a:off x="4324320" y="5478120"/>
            <a:ext cx="295128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Развиваемые роли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Инженер по данным — PL-2.1–2.2.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Архитектор ИИ — LLM-5.1–5.2.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s3-ai-throughline"/>
          <p:cNvSpPr/>
          <p:nvPr/>
        </p:nvSpPr>
        <p:spPr>
          <a:xfrm>
            <a:off x="7524720" y="5478120"/>
            <a:ext cx="388476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 проходит через весь курс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Побочные артефакты → тесты → ограниченные фрагменты кода.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Каждый результат проверяет студент.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slide-number-2"/>
          <p:cNvSpPr/>
          <p:nvPr/>
        </p:nvSpPr>
        <p:spPr>
          <a:xfrm>
            <a:off x="11239560" y="6581880"/>
            <a:ext cx="360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2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Прямоугольник 3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186" name="Рисунок 12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8600" cy="8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Организация системы оценивания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Подзаголовок 2"/>
          <p:cNvSpPr/>
          <p:nvPr/>
        </p:nvSpPr>
        <p:spPr>
          <a:xfrm>
            <a:off x="722880" y="182880"/>
            <a:ext cx="10514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Скругленный прямоугольник 7"/>
          <p:cNvSpPr/>
          <p:nvPr/>
        </p:nvSpPr>
        <p:spPr>
          <a:xfrm>
            <a:off x="412560" y="1701360"/>
            <a:ext cx="11207160" cy="48585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190" name="s4-left-heading"/>
          <p:cNvSpPr/>
          <p:nvPr/>
        </p:nvSpPr>
        <p:spPr>
          <a:xfrm>
            <a:off x="857160" y="2057400"/>
            <a:ext cx="45230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Единая 100-балльная модель</a:t>
            </a:r>
            <a:endParaRPr b="0" lang="ru-RU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91" name=""/>
          <p:cNvGraphicFramePr/>
          <p:nvPr/>
        </p:nvGraphicFramePr>
        <p:xfrm>
          <a:off x="838080" y="2428920"/>
          <a:ext cx="4571280" cy="1999800"/>
        </p:xfrm>
        <a:graphic>
          <a:graphicData uri="http://schemas.openxmlformats.org/drawingml/2006/table">
            <a:tbl>
              <a:tblPr/>
              <a:tblGrid>
                <a:gridCol w="3867120"/>
                <a:gridCol w="704520"/>
              </a:tblGrid>
              <a:tr h="39996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Технический результат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35%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39996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Корректность, тесты, границы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25%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39996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Качество кода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10%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39996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Работа с ИИ и проверка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25%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39996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Воспроизводимость сдачи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192" name="s4-right-heading"/>
          <p:cNvSpPr/>
          <p:nvPr/>
        </p:nvSpPr>
        <p:spPr>
          <a:xfrm>
            <a:off x="6000840" y="2057400"/>
            <a:ext cx="52372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Доказательства вместо запрета ИИ</a:t>
            </a:r>
            <a:endParaRPr b="0" lang="ru-RU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s4-process"/>
          <p:cNvSpPr/>
          <p:nvPr/>
        </p:nvSpPr>
        <p:spPr>
          <a:xfrm>
            <a:off x="6019920" y="2457360"/>
            <a:ext cx="5218200" cy="19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1.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Самостоятельное решение и утверждённые границы.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2.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Ограниченная задача агенту.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3.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Сохранённые prompt / response / diff.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4.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Сборка, тесты и обязательный сценарий.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5.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Журнал исправлений и устное объяснение.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s4-conclusion-band"/>
          <p:cNvSpPr/>
          <p:nvPr/>
        </p:nvSpPr>
        <p:spPr>
          <a:xfrm>
            <a:off x="781200" y="4762440"/>
            <a:ext cx="10628640" cy="1198800"/>
          </a:xfrm>
          <a:prstGeom prst="roundRect">
            <a:avLst>
              <a:gd name="adj" fmla="val 7937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s4-conclusion-heading"/>
          <p:cNvSpPr/>
          <p:nvPr/>
        </p:nvSpPr>
        <p:spPr>
          <a:xfrm>
            <a:off x="990720" y="4896000"/>
            <a:ext cx="3141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Почему модель достаточна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4-conclusion"/>
          <p:cNvSpPr/>
          <p:nvPr/>
        </p:nvSpPr>
        <p:spPr>
          <a:xfrm>
            <a:off x="990720" y="5219640"/>
            <a:ext cx="10171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Оценивается цепочка проверяемых свидетельств, а не текст ответа. Неработающая сборка ограничивает итог 59 баллами; запрещённая передача самостоятельной части обнуляет ИИ-компонент и затронутый предметный критерий.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s4-student-duty"/>
          <p:cNvSpPr/>
          <p:nvPr/>
        </p:nvSpPr>
        <p:spPr>
          <a:xfrm>
            <a:off x="1428840" y="5961240"/>
            <a:ext cx="93330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Студент обязан воспроизвести запуск, объяснить код и показать, как проверял результат агента.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lide-number-3"/>
          <p:cNvSpPr/>
          <p:nvPr/>
        </p:nvSpPr>
        <p:spPr>
          <a:xfrm>
            <a:off x="11239560" y="6581880"/>
            <a:ext cx="360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3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Прямоугольник 3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200" name="Рисунок 12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8600" cy="8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Фонд оценочных средств и командная работа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Подзаголовок 2"/>
          <p:cNvSpPr/>
          <p:nvPr/>
        </p:nvSpPr>
        <p:spPr>
          <a:xfrm>
            <a:off x="722880" y="182880"/>
            <a:ext cx="10514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Скругленный прямоугольник 7"/>
          <p:cNvSpPr/>
          <p:nvPr/>
        </p:nvSpPr>
        <p:spPr>
          <a:xfrm>
            <a:off x="412560" y="1701360"/>
            <a:ext cx="11207160" cy="48585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04" name="s5-metric-1"/>
          <p:cNvSpPr/>
          <p:nvPr/>
        </p:nvSpPr>
        <p:spPr>
          <a:xfrm>
            <a:off x="819000" y="1962000"/>
            <a:ext cx="1427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15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s5-label-1"/>
          <p:cNvSpPr/>
          <p:nvPr/>
        </p:nvSpPr>
        <p:spPr>
          <a:xfrm>
            <a:off x="819000" y="2352600"/>
            <a:ext cx="1427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индивидуальных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КИМ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s5-metric-2"/>
          <p:cNvSpPr/>
          <p:nvPr/>
        </p:nvSpPr>
        <p:spPr>
          <a:xfrm>
            <a:off x="3086280" y="1962000"/>
            <a:ext cx="1427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20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s5-label-2"/>
          <p:cNvSpPr/>
          <p:nvPr/>
        </p:nvSpPr>
        <p:spPr>
          <a:xfrm>
            <a:off x="3086280" y="2352600"/>
            <a:ext cx="1427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сквозных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вариантов ЛР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5-metric-3"/>
          <p:cNvSpPr/>
          <p:nvPr/>
        </p:nvSpPr>
        <p:spPr>
          <a:xfrm>
            <a:off x="5353200" y="1962000"/>
            <a:ext cx="1427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16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s5-label-3"/>
          <p:cNvSpPr/>
          <p:nvPr/>
        </p:nvSpPr>
        <p:spPr>
          <a:xfrm>
            <a:off x="5353200" y="2352600"/>
            <a:ext cx="1427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тематических рубрик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s5-metric-4"/>
          <p:cNvSpPr/>
          <p:nvPr/>
        </p:nvSpPr>
        <p:spPr>
          <a:xfrm>
            <a:off x="7620120" y="1962000"/>
            <a:ext cx="1427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11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s5-label-4"/>
          <p:cNvSpPr/>
          <p:nvPr/>
        </p:nvSpPr>
        <p:spPr>
          <a:xfrm>
            <a:off x="7620120" y="2352600"/>
            <a:ext cx="1427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стартовых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датасетов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s5-metric-5"/>
          <p:cNvSpPr/>
          <p:nvPr/>
        </p:nvSpPr>
        <p:spPr>
          <a:xfrm>
            <a:off x="9887040" y="1962000"/>
            <a:ext cx="1427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47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s5-label-5"/>
          <p:cNvSpPr/>
          <p:nvPr/>
        </p:nvSpPr>
        <p:spPr>
          <a:xfrm>
            <a:off x="9887040" y="2352600"/>
            <a:ext cx="1427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вопросов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к экзамену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5-heading-1"/>
          <p:cNvSpPr/>
          <p:nvPr/>
        </p:nvSpPr>
        <p:spPr>
          <a:xfrm>
            <a:off x="876240" y="2905200"/>
            <a:ext cx="3141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Проверки кода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s5-bullets-1"/>
          <p:cNvSpPr/>
          <p:nvPr/>
        </p:nvSpPr>
        <p:spPr>
          <a:xfrm>
            <a:off x="876240" y="3257640"/>
            <a:ext cx="3141720" cy="15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JUnit и integration tests.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Stress test конкурентности.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Rollback и два идемпотентных запуска.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s5-heading-2"/>
          <p:cNvSpPr/>
          <p:nvPr/>
        </p:nvSpPr>
        <p:spPr>
          <a:xfrm>
            <a:off x="4390920" y="2905200"/>
            <a:ext cx="3141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Мини-проект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s5-bullets-2"/>
          <p:cNvSpPr/>
          <p:nvPr/>
        </p:nvSpPr>
        <p:spPr>
          <a:xfrm>
            <a:off x="4390920" y="3257640"/>
            <a:ext cx="3141720" cy="15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Команда из 2–3 человек.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Серверный сервис: CSV/JSON → конкурентный ETL → PostgreSQL.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HTTP API, DLQ, метрики и идемпотентный UPSERT.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s5-heading-3"/>
          <p:cNvSpPr/>
          <p:nvPr/>
        </p:nvSpPr>
        <p:spPr>
          <a:xfrm>
            <a:off x="7905600" y="2905200"/>
            <a:ext cx="3141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Работа с ИИ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s5-bullets-3"/>
          <p:cNvSpPr/>
          <p:nvPr/>
        </p:nvSpPr>
        <p:spPr>
          <a:xfrm>
            <a:off x="7905600" y="3257640"/>
            <a:ext cx="3141720" cy="15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Вовлечённость растёт: побочные артефакты → тесты → ограниченный код.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Каждый prompt / response / diff проверяется студентами.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Архитектура и ядро обработки остаются за командой.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s5-artifact-band"/>
          <p:cNvSpPr/>
          <p:nvPr/>
        </p:nvSpPr>
        <p:spPr>
          <a:xfrm>
            <a:off x="781200" y="4857840"/>
            <a:ext cx="10628640" cy="1122480"/>
          </a:xfrm>
          <a:prstGeom prst="roundRect">
            <a:avLst>
              <a:gd name="adj" fmla="val 8475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s5-artifact-heading"/>
          <p:cNvSpPr/>
          <p:nvPr/>
        </p:nvSpPr>
        <p:spPr>
          <a:xfrm>
            <a:off x="990720" y="5000760"/>
            <a:ext cx="6189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Командный мини-проект: серверный ETL-сервис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s5-artifact"/>
          <p:cNvSpPr/>
          <p:nvPr/>
        </p:nvSpPr>
        <p:spPr>
          <a:xfrm>
            <a:off x="990720" y="5334120"/>
            <a:ext cx="1017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Команда импортирует грязные CSV/JSON из нескольких источников, параллельно очищает и дедуплицирует данные, сохраняет результат в PostgreSQL через UPSERT и предоставляет HTTP API, DLQ и метрики импорта.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lide-number-4"/>
          <p:cNvSpPr/>
          <p:nvPr/>
        </p:nvSpPr>
        <p:spPr>
          <a:xfrm>
            <a:off x="11239560" y="6581880"/>
            <a:ext cx="360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4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Прямоугольник 3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225" name="Рисунок 12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8600" cy="8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Git-репозиторий как цифровой учебный продукт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Подзаголовок 2"/>
          <p:cNvSpPr/>
          <p:nvPr/>
        </p:nvSpPr>
        <p:spPr>
          <a:xfrm>
            <a:off x="722880" y="182880"/>
            <a:ext cx="10514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Скругленный прямоугольник 7"/>
          <p:cNvSpPr/>
          <p:nvPr/>
        </p:nvSpPr>
        <p:spPr>
          <a:xfrm>
            <a:off x="412560" y="1701360"/>
            <a:ext cx="11207160" cy="48585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graphicFrame>
        <p:nvGraphicFramePr>
          <p:cNvPr id="229" name=""/>
          <p:cNvGraphicFramePr/>
          <p:nvPr/>
        </p:nvGraphicFramePr>
        <p:xfrm>
          <a:off x="743040" y="1971720"/>
          <a:ext cx="10714680" cy="2989440"/>
        </p:xfrm>
        <a:graphic>
          <a:graphicData uri="http://schemas.openxmlformats.org/drawingml/2006/table">
            <a:tbl>
              <a:tblPr/>
              <a:tblGrid>
                <a:gridCol w="2238120"/>
                <a:gridCol w="3047760"/>
                <a:gridCol w="5429160"/>
              </a:tblGrid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Раздел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Каталоги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Содержание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Учебный маршрут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Modules/ · Project/ · Exam/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15 индивидуальных КИМ, командный ETL-проект, 47 вопросов и генератор 25 билетов.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Оценивание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methodical-guidelines/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16 тематических рубрик, 20 сквозных вариантов лабораторных работ, материалы для студентов и преподавателей.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Ресурсы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resources/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Стартовые датасеты, инструкции по промптам, статьи и литература.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Документы и исходники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docs/ · data/ · meta/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РПД, чек-лист качества, исходные DOCX/XLSX и требования к проекту.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Команда и лицензия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team/ · LICENSE.md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Авторы, роли и вклад; открытая лицензия CC BY 4.0.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0" name="s6-result-band"/>
          <p:cNvSpPr/>
          <p:nvPr/>
        </p:nvSpPr>
        <p:spPr>
          <a:xfrm>
            <a:off x="781200" y="5114880"/>
            <a:ext cx="10628640" cy="779760"/>
          </a:xfrm>
          <a:prstGeom prst="roundRect">
            <a:avLst>
              <a:gd name="adj" fmla="val 12195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6-result-heading"/>
          <p:cNvSpPr/>
          <p:nvPr/>
        </p:nvSpPr>
        <p:spPr>
          <a:xfrm>
            <a:off x="990720" y="5172120"/>
            <a:ext cx="25704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Результат проекта</a:t>
            </a:r>
            <a:endParaRPr b="0" lang="ru-RU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s6-result"/>
          <p:cNvSpPr/>
          <p:nvPr/>
        </p:nvSpPr>
        <p:spPr>
          <a:xfrm>
            <a:off x="990720" y="5467320"/>
            <a:ext cx="101714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Готовый к использованию открытый учебно-методический продукт: РПД, задания ЛР, ФОС, данные, инструкции и экзаменационные материалы связаны в одном репозитории.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6-url"/>
          <p:cNvSpPr/>
          <p:nvPr/>
        </p:nvSpPr>
        <p:spPr>
          <a:xfrm>
            <a:off x="2666880" y="6067440"/>
            <a:ext cx="6856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sng">
                <a:solidFill>
                  <a:srgbClr val="467886"/>
                </a:solidFill>
                <a:uFillTx/>
                <a:latin typeface="Arial"/>
                <a:ea typeface="Arial"/>
                <a:hlinkClick r:id="rId2"/>
              </a:rPr>
              <a:t>github.com/Stasychbr/top_ai_2026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lide-number-5"/>
          <p:cNvSpPr/>
          <p:nvPr/>
        </p:nvSpPr>
        <p:spPr>
          <a:xfrm>
            <a:off x="11239560" y="6581880"/>
            <a:ext cx="360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5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Рисунок 1" descr=""/>
          <p:cNvPicPr/>
          <p:nvPr/>
        </p:nvPicPr>
        <p:blipFill>
          <a:blip r:embed="rId1"/>
          <a:stretch/>
        </p:blipFill>
        <p:spPr>
          <a:xfrm>
            <a:off x="0" y="1075320"/>
            <a:ext cx="847080" cy="1933920"/>
          </a:xfrm>
          <a:prstGeom prst="rect">
            <a:avLst/>
          </a:prstGeom>
          <a:ln w="0">
            <a:noFill/>
          </a:ln>
        </p:spPr>
      </p:pic>
      <p:sp>
        <p:nvSpPr>
          <p:cNvPr id="236" name="Прямоугольник 1"/>
          <p:cNvSpPr/>
          <p:nvPr/>
        </p:nvSpPr>
        <p:spPr>
          <a:xfrm>
            <a:off x="0" y="2519640"/>
            <a:ext cx="12190680" cy="25203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237" name="Рисунок 2" descr=""/>
          <p:cNvPicPr/>
          <p:nvPr/>
        </p:nvPicPr>
        <p:blipFill>
          <a:blip r:embed="rId2"/>
          <a:stretch/>
        </p:blipFill>
        <p:spPr>
          <a:xfrm>
            <a:off x="8764200" y="1362960"/>
            <a:ext cx="3426120" cy="4807080"/>
          </a:xfrm>
          <a:prstGeom prst="rect">
            <a:avLst/>
          </a:prstGeom>
          <a:ln w="0">
            <a:noFill/>
          </a:ln>
        </p:spPr>
      </p:pic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260000" y="2916000"/>
            <a:ext cx="9142560" cy="171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СПАСИБО ЗА ВНИМАНИЕ!</a:t>
            </a:r>
            <a:endParaRPr b="0" lang="ru-RU" sz="2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9" name="Рисунок 3" descr=""/>
          <p:cNvPicPr/>
          <p:nvPr/>
        </p:nvPicPr>
        <p:blipFill>
          <a:blip r:embed="rId3"/>
          <a:stretch/>
        </p:blipFill>
        <p:spPr>
          <a:xfrm>
            <a:off x="676440" y="386280"/>
            <a:ext cx="5320800" cy="328320"/>
          </a:xfrm>
          <a:prstGeom prst="rect">
            <a:avLst/>
          </a:prstGeom>
          <a:ln w="0">
            <a:noFill/>
          </a:ln>
        </p:spPr>
      </p:pic>
      <p:pic>
        <p:nvPicPr>
          <p:cNvPr id="240" name="Рисунок 5" descr=""/>
          <p:cNvPicPr/>
          <p:nvPr/>
        </p:nvPicPr>
        <p:blipFill>
          <a:blip r:embed="rId4"/>
          <a:stretch/>
        </p:blipFill>
        <p:spPr>
          <a:xfrm>
            <a:off x="9823320" y="391680"/>
            <a:ext cx="1690920" cy="32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LibreOffice/24.8.3.1$Windows_X86_64 LibreOffice_project/65412f067af443213e726c93f137ccc85c9a1e06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2026-07-28T08:42:38Z</dcterms:created>
  <dc:creator>Walnut Exporter</dc:creator>
  <dc:description/>
  <dc:language>ru-RU</dc:language>
  <cp:lastModifiedBy>А М Гостин</cp:lastModifiedBy>
  <dcterms:modified xsi:type="dcterms:W3CDTF">2026-07-28T22:12:29Z</dcterms:modified>
  <cp:revision>7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