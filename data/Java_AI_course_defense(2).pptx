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6" r:id="rId13"/>
    <p:sldMasterId id="2147483678" r:id="rId14"/>
    <p:sldMasterId id="2147483680" r:id="rId15"/>
    <p:sldMasterId id="2147483682" r:id="rId16"/>
    <p:sldMasterId id="2147483684" r:id="rId17"/>
    <p:sldMasterId id="2147483686" r:id="rId18"/>
  </p:sldMasterIdLst>
  <p:notesMasterIdLst>
    <p:notesMasterId r:id="rId19"/>
  </p:notesMasterIdLst>
  <p:sldIdLst>
    <p:sldId id="256" r:id="rId20"/>
    <p:sldId id="257" r:id="rId21"/>
    <p:sldId id="258" r:id="rId22"/>
    <p:sldId id="259" r:id="rId23"/>
    <p:sldId id="260" r:id="rId24"/>
    <p:sldId id="261" r:id="rId2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dt" idx="5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ftr" idx="5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0E120A6-CCD3-44E7-8964-257FF08078C1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1.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2.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rpd.md, sections 2–3 and 6–7.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3.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rpd.md, sections 6–7 (competencies, roles, and thematic plan).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4.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5.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rpd.md, section 7.3.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GitHub repository Project/README.md at commit 23594a3c4e1c98532aeb6ac093e4c4e4c4733618: https://github.com/Stasychbr/top_ai_2026/blob/main/Project/README.md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6.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GitHub repository README.md and directory tree at commit 23594a3c4e1c98532aeb6ac093e4c4e4c4733618: https://github.com/Stasychbr/top_ai_2026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F8E8E0-0F58-4B2A-B440-5352BB5BFE1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9172B9-CAD3-4A56-94F6-6984EEF2657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79A58A-D222-4905-80F7-70CD398203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18F9476-BAC9-4D99-B1B0-42A7DC105D4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027169F-E9F3-4DA7-A165-3B5248CC63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D8FCE7E-AA10-4847-A4AB-E18680611F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7A63EAF-4D25-4F62-AAC5-5401EBC923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943E988-1231-46B7-B3FB-B237424C8F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A090AB0-84C0-4379-93E3-EEFD00EA16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02A2ABA-E5B8-4E0C-827D-394D180F35A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E5E8696-BE7C-464F-8CAB-46090BB94C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B9B7760-FBF5-4145-BB24-2637E6E283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C9192F6-DD64-417A-8D09-9759AD1E31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D4AC186-1E48-440F-B627-FC790E168D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3681467-9EC0-4DA0-8EB3-6DE89C01E4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893D1B2-8E68-49D9-86C5-BAA19CCE98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D1CA007-DE6A-4DCC-9474-6B57D12F24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2EA6137-E65B-4879-BCDA-211146EF7F7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BF2B803-183C-4871-8C0A-875D56503B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AF96721-0521-4AC1-971A-8E43FE6D12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C262C94-BBFB-4DA3-8B47-4AC1DD8A96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86637F8-3949-4F0F-8994-6DF60DA25DC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7FE4F4F-5A6D-4321-AAF0-A97D466F39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8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9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20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21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2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95826B-D4ED-4132-83E7-FF9206778B4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61A47C-AA48-46AA-A112-22C44322A400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E610AD-4407-4C4A-8482-517DF240C84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E74D8D-A63A-4D89-85DE-43F420AC09E1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1A2CE8-BC92-4797-AA15-44F5B7CEBEC4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EF91A1-DF79-49F9-A755-9B9EEBDD5B7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F8C503-BECF-4325-BE32-A5398E4882D7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312A36-6C51-47DD-AF0F-5C0B67A5D8F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7C2598-FFA7-41A4-928A-C6CD6E67A50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0F1F0E-0756-4BFE-9395-3570DEFDD52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8B4FF6-99C2-47AA-96B1-29CB4616EDAB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CA3830-099B-4F11-8EBE-21E1483A6666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3FA14F-D8A6-4681-98FB-F200DB23475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7BA611-34B9-4204-AE21-273F45F14528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EEEE72-7E53-4C1B-ADD7-9309E9BEC7DA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95B31A-0DC1-44E5-BAFA-65A5888AB10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7AAFAF-B21B-4449-BA06-6E6BF85B17AA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hyperlink" Target="https://github.com/Stasychbr/top_ai_2026" TargetMode="Externa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Рисунок 6" descr=""/>
          <p:cNvPicPr/>
          <p:nvPr/>
        </p:nvPicPr>
        <p:blipFill>
          <a:blip r:embed="rId1"/>
          <a:stretch/>
        </p:blipFill>
        <p:spPr>
          <a:xfrm>
            <a:off x="0" y="1075320"/>
            <a:ext cx="847800" cy="1934640"/>
          </a:xfrm>
          <a:prstGeom prst="rect">
            <a:avLst/>
          </a:prstGeom>
          <a:ln w="0">
            <a:noFill/>
          </a:ln>
        </p:spPr>
      </p:pic>
      <p:sp>
        <p:nvSpPr>
          <p:cNvPr id="91" name="Прямоугольник 11"/>
          <p:cNvSpPr/>
          <p:nvPr/>
        </p:nvSpPr>
        <p:spPr>
          <a:xfrm>
            <a:off x="0" y="3923640"/>
            <a:ext cx="12191400" cy="293292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92" name="Рисунок 10" descr=""/>
          <p:cNvPicPr/>
          <p:nvPr/>
        </p:nvPicPr>
        <p:blipFill>
          <a:blip r:embed="rId2"/>
          <a:stretch/>
        </p:blipFill>
        <p:spPr>
          <a:xfrm>
            <a:off x="8764200" y="1362960"/>
            <a:ext cx="3426840" cy="4807800"/>
          </a:xfrm>
          <a:prstGeom prst="rect">
            <a:avLst/>
          </a:prstGeom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76440" y="4249080"/>
            <a:ext cx="9143280" cy="171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55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Java-разработка для систем искусственного интеллекта:</a:t>
            </a:r>
            <a:endParaRPr b="0" lang="ru-RU" sz="255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55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ООП и обработка данных</a:t>
            </a:r>
            <a:endParaRPr b="0" lang="ru-RU" sz="25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676440" y="5936760"/>
            <a:ext cx="9143280" cy="65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Команда проекта ДПО «Топ-ИИ» · 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Гостин А. М. · Подколзин В. В. · Кирпиченко С. Р. ·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Ржаникова Е. Д. · Ермолаева О. С. · Дмитриев Е. А. · (С) </a:t>
            </a:r>
            <a:r>
              <a:rPr b="0" lang="ru-RU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· 2026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95" name="Рисунок 4" descr=""/>
          <p:cNvPicPr/>
          <p:nvPr/>
        </p:nvPicPr>
        <p:blipFill>
          <a:blip r:embed="rId3"/>
          <a:stretch/>
        </p:blipFill>
        <p:spPr>
          <a:xfrm>
            <a:off x="676440" y="386280"/>
            <a:ext cx="5321520" cy="329040"/>
          </a:xfrm>
          <a:prstGeom prst="rect">
            <a:avLst/>
          </a:prstGeom>
          <a:ln w="0">
            <a:noFill/>
          </a:ln>
        </p:spPr>
      </p:pic>
      <p:pic>
        <p:nvPicPr>
          <p:cNvPr id="96" name="Рисунок 8" descr=""/>
          <p:cNvPicPr/>
          <p:nvPr/>
        </p:nvPicPr>
        <p:blipFill>
          <a:blip r:embed="rId4"/>
          <a:stretch/>
        </p:blipFill>
        <p:spPr>
          <a:xfrm>
            <a:off x="9823320" y="391680"/>
            <a:ext cx="1691640" cy="329040"/>
          </a:xfrm>
          <a:prstGeom prst="rect">
            <a:avLst/>
          </a:prstGeom>
          <a:ln w="0">
            <a:noFill/>
          </a:ln>
        </p:spPr>
      </p:pic>
      <p:sp>
        <p:nvSpPr>
          <p:cNvPr id="97" name="Подзаголовок 2"/>
          <p:cNvSpPr/>
          <p:nvPr/>
        </p:nvSpPr>
        <p:spPr>
          <a:xfrm>
            <a:off x="676440" y="3011040"/>
            <a:ext cx="914328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Проект рабочей программы дисциплины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и цифрового фонда оценочных средств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Прямоугольник 3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99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6840" cy="4807800"/>
          </a:xfrm>
          <a:prstGeom prst="rect">
            <a:avLst/>
          </a:prstGeom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641520"/>
            <a:ext cx="10399320" cy="8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Актуальность и целеполагание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Подзаголовок 2"/>
          <p:cNvSpPr/>
          <p:nvPr/>
        </p:nvSpPr>
        <p:spPr>
          <a:xfrm>
            <a:off x="722880" y="182880"/>
            <a:ext cx="10514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" name="Скругленный прямоугольник 7"/>
          <p:cNvSpPr/>
          <p:nvPr/>
        </p:nvSpPr>
        <p:spPr>
          <a:xfrm>
            <a:off x="412560" y="1701360"/>
            <a:ext cx="11207880" cy="485928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17324d"/>
              </a:solidFill>
              <a:uFillTx/>
              <a:latin typeface="Arial"/>
              <a:ea typeface="Arial"/>
            </a:endParaRPr>
          </a:p>
        </p:txBody>
      </p:sp>
      <p:sp>
        <p:nvSpPr>
          <p:cNvPr id="103" name="s2-heading-1"/>
          <p:cNvSpPr/>
          <p:nvPr/>
        </p:nvSpPr>
        <p:spPr>
          <a:xfrm>
            <a:off x="876240" y="1896480"/>
            <a:ext cx="31042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Для кого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" name="s2-bullets-1"/>
          <p:cNvSpPr/>
          <p:nvPr/>
        </p:nvSpPr>
        <p:spPr>
          <a:xfrm>
            <a:off x="876240" y="2268000"/>
            <a:ext cx="3104280" cy="13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Студенты ИТ-направлений, которым нужна современная база ООП и серверной разработки.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Инженеры по данным и архитекторы ИИ.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s2-heading-2"/>
          <p:cNvSpPr/>
          <p:nvPr/>
        </p:nvSpPr>
        <p:spPr>
          <a:xfrm>
            <a:off x="4381560" y="1896480"/>
            <a:ext cx="31042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Почему эта дисциплина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" name="s2-bullets-2"/>
          <p:cNvSpPr/>
          <p:nvPr/>
        </p:nvSpPr>
        <p:spPr>
          <a:xfrm>
            <a:off x="4381560" y="2268000"/>
            <a:ext cx="3104280" cy="13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Java и ООП формируют базовую инженерную подготовку разработчика в любой области, включая ИИ.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ИИ-системам нужны надёжные компоненты, сервисы и ETL-пайплайны.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" name="s2-heading-3"/>
          <p:cNvSpPr/>
          <p:nvPr/>
        </p:nvSpPr>
        <p:spPr>
          <a:xfrm>
            <a:off x="7886880" y="1896480"/>
            <a:ext cx="31042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Что оригинального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" name="s2-bullets-3"/>
          <p:cNvSpPr/>
          <p:nvPr/>
        </p:nvSpPr>
        <p:spPr>
          <a:xfrm>
            <a:off x="7886880" y="2268000"/>
            <a:ext cx="3104280" cy="13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Практическое задание развивается от класса до серверного сервиса.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ИИ встроен в проверяемый инженерный цикл.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Приобретаются навыки командной работы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9" name=""/>
          <p:cNvGrpSpPr/>
          <p:nvPr/>
        </p:nvGrpSpPr>
        <p:grpSpPr>
          <a:xfrm>
            <a:off x="781200" y="3708000"/>
            <a:ext cx="10629360" cy="900000"/>
            <a:chOff x="781200" y="3708000"/>
            <a:chExt cx="10629360" cy="900000"/>
          </a:xfrm>
        </p:grpSpPr>
        <p:sp>
          <p:nvSpPr>
            <p:cNvPr id="110" name="s2-goal-band"/>
            <p:cNvSpPr/>
            <p:nvPr/>
          </p:nvSpPr>
          <p:spPr>
            <a:xfrm>
              <a:off x="781200" y="3708000"/>
              <a:ext cx="10629360" cy="900000"/>
            </a:xfrm>
            <a:prstGeom prst="roundRect">
              <a:avLst>
                <a:gd name="adj" fmla="val 8929"/>
              </a:avLst>
            </a:prstGeom>
            <a:noFill/>
            <a:ln w="9525">
              <a:solidFill>
                <a:srgbClr val="bcd0e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111" name="s2-goal-heading"/>
            <p:cNvSpPr/>
            <p:nvPr/>
          </p:nvSpPr>
          <p:spPr>
            <a:xfrm>
              <a:off x="990720" y="3748680"/>
              <a:ext cx="1428120" cy="26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en-US" sz="1350" strike="noStrike" u="none">
                  <a:solidFill>
                    <a:srgbClr val="06498f"/>
                  </a:solidFill>
                  <a:uFillTx/>
                  <a:latin typeface="Arial"/>
                  <a:ea typeface="Arial"/>
                </a:rPr>
                <a:t>Цель:</a:t>
              </a:r>
              <a:endParaRPr b="0" lang="ru-RU" sz="135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112" name="s2-goal"/>
            <p:cNvSpPr/>
            <p:nvPr/>
          </p:nvSpPr>
          <p:spPr>
            <a:xfrm>
              <a:off x="990720" y="4053240"/>
              <a:ext cx="101721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rm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en-US" sz="1400" strike="noStrike" u="none">
                  <a:solidFill>
                    <a:srgbClr val="17324d"/>
                  </a:solidFill>
                  <a:uFillTx/>
                  <a:latin typeface="Arial"/>
                  <a:ea typeface="Arial"/>
                </a:rPr>
                <a:t>Сформировать системные навыки Java-разработки для создания надёжного, масштабируемого серверного ПО и ETL-решений с осознанным применением ИИ-инструментов.</a:t>
              </a: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sp>
        <p:nvSpPr>
          <p:cNvPr id="113" name="slide-number-1"/>
          <p:cNvSpPr/>
          <p:nvPr/>
        </p:nvSpPr>
        <p:spPr>
          <a:xfrm>
            <a:off x="11239560" y="6581880"/>
            <a:ext cx="3610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1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s2-goal-band"/>
          <p:cNvSpPr/>
          <p:nvPr/>
        </p:nvSpPr>
        <p:spPr>
          <a:xfrm>
            <a:off x="781200" y="4752000"/>
            <a:ext cx="10629360" cy="1548000"/>
          </a:xfrm>
          <a:prstGeom prst="roundRect">
            <a:avLst>
              <a:gd name="adj" fmla="val 8929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s2-goal-heading"/>
          <p:cNvSpPr/>
          <p:nvPr/>
        </p:nvSpPr>
        <p:spPr>
          <a:xfrm>
            <a:off x="990720" y="4828680"/>
            <a:ext cx="2249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Задачи дисциплины: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s2-goal"/>
          <p:cNvSpPr/>
          <p:nvPr/>
        </p:nvSpPr>
        <p:spPr>
          <a:xfrm>
            <a:off x="990720" y="5025240"/>
            <a:ext cx="10349280" cy="12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Освоить ООП-парадигму. 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Научиться разрабатывать прикладные решения на Java. 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Сформировать навыки многопоточного программирования и работы с реляционными БД. 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Научиться создавать ETL-пайплайны с обработкой ошибок, логированием, метриками и идемпотентной загрузкой.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Научиться применять ИИ-инструменты для генерации, рефакторинга и проверки кода без потери инженерного контроля.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Прямоугольник 3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118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6840" cy="480780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461520"/>
            <a:ext cx="10399320" cy="8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Состав и содержание программы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Подзаголовок 2"/>
          <p:cNvSpPr/>
          <p:nvPr/>
        </p:nvSpPr>
        <p:spPr>
          <a:xfrm>
            <a:off x="722880" y="182880"/>
            <a:ext cx="10514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1" name="Скругленный прямоугольник 7"/>
          <p:cNvSpPr/>
          <p:nvPr/>
        </p:nvSpPr>
        <p:spPr>
          <a:xfrm>
            <a:off x="412560" y="1260000"/>
            <a:ext cx="11207880" cy="530064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graphicFrame>
        <p:nvGraphicFramePr>
          <p:cNvPr id="122" name=""/>
          <p:cNvGraphicFramePr/>
          <p:nvPr/>
        </p:nvGraphicFramePr>
        <p:xfrm>
          <a:off x="693000" y="1532880"/>
          <a:ext cx="11062080" cy="3897360"/>
        </p:xfrm>
        <a:graphic>
          <a:graphicData uri="http://schemas.openxmlformats.org/drawingml/2006/table">
            <a:tbl>
              <a:tblPr/>
              <a:tblGrid>
                <a:gridCol w="298080"/>
                <a:gridCol w="1772280"/>
                <a:gridCol w="595800"/>
                <a:gridCol w="1070640"/>
                <a:gridCol w="1315440"/>
                <a:gridCol w="846360"/>
                <a:gridCol w="5163840"/>
              </a:tblGrid>
              <a:tr h="27972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№</a:t>
                      </a:r>
                      <a:endParaRPr b="1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Модуль</a:t>
                      </a:r>
                      <a:endParaRPr b="1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Часов</a:t>
                      </a:r>
                      <a:endParaRPr b="1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Виды занятий</a:t>
                      </a:r>
                      <a:endParaRPr b="1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Компетенции</a:t>
                      </a:r>
                      <a:endParaRPr b="1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Уровень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Накопительный результат</a:t>
                      </a:r>
                      <a:endParaRPr b="1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1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Основы ООП, промптинг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8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Лек - 4,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Лаб - 6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Предметная модель, контракты, наследование и полиморфизм, основы промптинга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2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Коллекции, generics, исключения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8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Типобезопасная обработка, проверка и журналирование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3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Ввод-вывод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CSV/JSON/XML-представления одной предметной области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4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Многопоточность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Безопасная конкурентная обработка нескольких источников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5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Базы данных и JDBC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DAO, транзакции, batch insert и UPSERT в PostgreSQL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ETL-пайплайн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PL-2.2;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Extract–Transform–Load, DLQ, метрики, идемпотентность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7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ИИ-инструменты и мини-проект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Лаб - 2,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Проект - 4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 PL-2.2;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Проверяемая работа с агентом и серверный ETL-сервис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5480">
                <a:tc>
                  <a:txBody>
                    <a:bodyPr lIns="47520" rIns="47520" anchor="ctr">
                      <a:noAutofit/>
                    </a:bodyPr>
                    <a:p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8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Контроль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8.75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Экзамен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PL-2.1; PL-2.2;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3" name="s3-hours"/>
          <p:cNvSpPr/>
          <p:nvPr/>
        </p:nvSpPr>
        <p:spPr>
          <a:xfrm>
            <a:off x="800280" y="5478120"/>
            <a:ext cx="3256920" cy="9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Трудоемкость 108 часов / 3 з.е.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16 ч. лекций · 30 ч. лабораторных ·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4 ч. мини-проекта ·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58 ч. самостоятельной работы.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s3-roles"/>
          <p:cNvSpPr/>
          <p:nvPr/>
        </p:nvSpPr>
        <p:spPr>
          <a:xfrm>
            <a:off x="4324320" y="5478120"/>
            <a:ext cx="2952000" cy="9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Развиваемые роли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Инженер по данным — PL-2.1–2.2.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Архитектор ИИ — LLM-5.1–5.2.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" name="s3-ai-throughline"/>
          <p:cNvSpPr/>
          <p:nvPr/>
        </p:nvSpPr>
        <p:spPr>
          <a:xfrm>
            <a:off x="7524720" y="5478120"/>
            <a:ext cx="3885480" cy="9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ИИ проходит через весь курс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Побочные артефакты → тесты → ограниченные фрагменты кода.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Каждый результат проверяет студент.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" name="slide-number-2"/>
          <p:cNvSpPr/>
          <p:nvPr/>
        </p:nvSpPr>
        <p:spPr>
          <a:xfrm>
            <a:off x="11239560" y="6581880"/>
            <a:ext cx="3610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2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Прямоугольник 3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128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6840" cy="4807800"/>
          </a:xfrm>
          <a:prstGeom prst="rect">
            <a:avLst/>
          </a:prstGeom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641520"/>
            <a:ext cx="10399320" cy="8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Организация системы оценивания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Подзаголовок 2"/>
          <p:cNvSpPr/>
          <p:nvPr/>
        </p:nvSpPr>
        <p:spPr>
          <a:xfrm>
            <a:off x="722880" y="182880"/>
            <a:ext cx="10514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Скругленный прямоугольник 7"/>
          <p:cNvSpPr/>
          <p:nvPr/>
        </p:nvSpPr>
        <p:spPr>
          <a:xfrm>
            <a:off x="412560" y="1701360"/>
            <a:ext cx="11207880" cy="485928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sp>
        <p:nvSpPr>
          <p:cNvPr id="132" name="s4-left-heading"/>
          <p:cNvSpPr/>
          <p:nvPr/>
        </p:nvSpPr>
        <p:spPr>
          <a:xfrm>
            <a:off x="857160" y="2057400"/>
            <a:ext cx="45237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Единая 100-балльная модель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33" name=""/>
          <p:cNvGraphicFramePr/>
          <p:nvPr/>
        </p:nvGraphicFramePr>
        <p:xfrm>
          <a:off x="838080" y="2428920"/>
          <a:ext cx="4571280" cy="1999800"/>
        </p:xfrm>
        <a:graphic>
          <a:graphicData uri="http://schemas.openxmlformats.org/drawingml/2006/table">
            <a:tbl>
              <a:tblPr/>
              <a:tblGrid>
                <a:gridCol w="3867120"/>
                <a:gridCol w="704520"/>
              </a:tblGrid>
              <a:tr h="39996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Технический результат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35%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39996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Корректность, тесты, границы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25%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39996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Качество кода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10%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39996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Работа с ИИ и проверка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25%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39996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Воспроизводимость сдачи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134" name="s4-right-heading"/>
          <p:cNvSpPr/>
          <p:nvPr/>
        </p:nvSpPr>
        <p:spPr>
          <a:xfrm>
            <a:off x="6000840" y="2057400"/>
            <a:ext cx="52380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Доказательства вместо запрета ИИ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s4-process"/>
          <p:cNvSpPr/>
          <p:nvPr/>
        </p:nvSpPr>
        <p:spPr>
          <a:xfrm>
            <a:off x="6019920" y="2457360"/>
            <a:ext cx="5218920" cy="19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1.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Самостоятельное решение и утверждённые границы.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2.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Ограниченная задача агенту.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3.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Сохранённые prompt / response / diff.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4.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Сборка, тесты и обязательный сценарий.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5.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Журнал исправлений и устное объяснение.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s4-conclusion-band"/>
          <p:cNvSpPr/>
          <p:nvPr/>
        </p:nvSpPr>
        <p:spPr>
          <a:xfrm>
            <a:off x="781200" y="4762440"/>
            <a:ext cx="10629360" cy="1199520"/>
          </a:xfrm>
          <a:prstGeom prst="roundRect">
            <a:avLst>
              <a:gd name="adj" fmla="val 7937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7" name="s4-conclusion-heading"/>
          <p:cNvSpPr/>
          <p:nvPr/>
        </p:nvSpPr>
        <p:spPr>
          <a:xfrm>
            <a:off x="990720" y="4896000"/>
            <a:ext cx="3142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Почему модель достаточна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8" name="s4-conclusion"/>
          <p:cNvSpPr/>
          <p:nvPr/>
        </p:nvSpPr>
        <p:spPr>
          <a:xfrm>
            <a:off x="990720" y="5219640"/>
            <a:ext cx="10172160" cy="5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Оценивается цепочка проверяемых свидетельств, а не текст ответа. Неработающая сборка ограничивает итог 59 баллами; запрещённая передача самостоятельной части обнуляет ИИ-компонент и затронутый предметный критерий.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9" name="s4-student-duty"/>
          <p:cNvSpPr/>
          <p:nvPr/>
        </p:nvSpPr>
        <p:spPr>
          <a:xfrm>
            <a:off x="1428840" y="6076800"/>
            <a:ext cx="933372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Студент обязан воспроизвести запуск, объяснить код и показать, как проверял результат агента.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0" name="slide-number-3"/>
          <p:cNvSpPr/>
          <p:nvPr/>
        </p:nvSpPr>
        <p:spPr>
          <a:xfrm>
            <a:off x="11239560" y="6581880"/>
            <a:ext cx="3610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3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Прямоугольник 3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142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6840" cy="4807800"/>
          </a:xfrm>
          <a:prstGeom prst="rect">
            <a:avLst/>
          </a:prstGeom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641520"/>
            <a:ext cx="10399320" cy="8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Фонд оценочных средств и командная работа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Подзаголовок 2"/>
          <p:cNvSpPr/>
          <p:nvPr/>
        </p:nvSpPr>
        <p:spPr>
          <a:xfrm>
            <a:off x="722880" y="182880"/>
            <a:ext cx="10514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Скругленный прямоугольник 7"/>
          <p:cNvSpPr/>
          <p:nvPr/>
        </p:nvSpPr>
        <p:spPr>
          <a:xfrm>
            <a:off x="412560" y="1701360"/>
            <a:ext cx="11207880" cy="485928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sp>
        <p:nvSpPr>
          <p:cNvPr id="146" name="s5-metric-1"/>
          <p:cNvSpPr/>
          <p:nvPr/>
        </p:nvSpPr>
        <p:spPr>
          <a:xfrm>
            <a:off x="819000" y="1962000"/>
            <a:ext cx="1428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15</a:t>
            </a:r>
            <a:endParaRPr b="0" lang="ru-RU" sz="20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7" name="s5-label-1"/>
          <p:cNvSpPr/>
          <p:nvPr/>
        </p:nvSpPr>
        <p:spPr>
          <a:xfrm>
            <a:off x="819000" y="2352600"/>
            <a:ext cx="142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индивидуальных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КИМ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8" name="s5-metric-2"/>
          <p:cNvSpPr/>
          <p:nvPr/>
        </p:nvSpPr>
        <p:spPr>
          <a:xfrm>
            <a:off x="3086280" y="1962000"/>
            <a:ext cx="1428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20</a:t>
            </a:r>
            <a:endParaRPr b="0" lang="ru-RU" sz="20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9" name="s5-label-2"/>
          <p:cNvSpPr/>
          <p:nvPr/>
        </p:nvSpPr>
        <p:spPr>
          <a:xfrm>
            <a:off x="3086280" y="2352600"/>
            <a:ext cx="142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сквозных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вариантов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s5-metric-3"/>
          <p:cNvSpPr/>
          <p:nvPr/>
        </p:nvSpPr>
        <p:spPr>
          <a:xfrm>
            <a:off x="5353200" y="1962000"/>
            <a:ext cx="1428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16</a:t>
            </a:r>
            <a:endParaRPr b="0" lang="ru-RU" sz="20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1" name="s5-label-3"/>
          <p:cNvSpPr/>
          <p:nvPr/>
        </p:nvSpPr>
        <p:spPr>
          <a:xfrm>
            <a:off x="5353200" y="2352600"/>
            <a:ext cx="142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рубрик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s5-metric-4"/>
          <p:cNvSpPr/>
          <p:nvPr/>
        </p:nvSpPr>
        <p:spPr>
          <a:xfrm>
            <a:off x="7620120" y="1962000"/>
            <a:ext cx="1428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11</a:t>
            </a:r>
            <a:endParaRPr b="0" lang="ru-RU" sz="20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s5-label-4"/>
          <p:cNvSpPr/>
          <p:nvPr/>
        </p:nvSpPr>
        <p:spPr>
          <a:xfrm>
            <a:off x="7620120" y="2352600"/>
            <a:ext cx="142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стартовых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датасетов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4" name="s5-metric-5"/>
          <p:cNvSpPr/>
          <p:nvPr/>
        </p:nvSpPr>
        <p:spPr>
          <a:xfrm>
            <a:off x="9887040" y="1962000"/>
            <a:ext cx="14281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2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47</a:t>
            </a:r>
            <a:endParaRPr b="0" lang="ru-RU" sz="20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5" name="s5-label-5"/>
          <p:cNvSpPr/>
          <p:nvPr/>
        </p:nvSpPr>
        <p:spPr>
          <a:xfrm>
            <a:off x="9887040" y="2352600"/>
            <a:ext cx="142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вопросов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к экзамену</a:t>
            </a:r>
            <a:endParaRPr b="0" lang="ru-RU" sz="98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6" name="s5-heading-1"/>
          <p:cNvSpPr/>
          <p:nvPr/>
        </p:nvSpPr>
        <p:spPr>
          <a:xfrm>
            <a:off x="876240" y="2905200"/>
            <a:ext cx="3142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Проверки кода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7" name="s5-bullets-1"/>
          <p:cNvSpPr/>
          <p:nvPr/>
        </p:nvSpPr>
        <p:spPr>
          <a:xfrm>
            <a:off x="876240" y="3257640"/>
            <a:ext cx="3142440" cy="15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JUnit и integration tests.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Stress test конкурентности.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Rollback и два идемпотентных запуска.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s5-heading-2"/>
          <p:cNvSpPr/>
          <p:nvPr/>
        </p:nvSpPr>
        <p:spPr>
          <a:xfrm>
            <a:off x="4390920" y="2905200"/>
            <a:ext cx="3142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Мини-проект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9" name="s5-bullets-2"/>
          <p:cNvSpPr/>
          <p:nvPr/>
        </p:nvSpPr>
        <p:spPr>
          <a:xfrm>
            <a:off x="4390920" y="3257640"/>
            <a:ext cx="3142440" cy="15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Команда из 2–3 человек.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Серверный сервис: CSV/JSON → конкурентный ETL → PostgreSQL.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HTTP API, DLQ, метрики и идемпотентный UPSERT.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" name="s5-heading-3"/>
          <p:cNvSpPr/>
          <p:nvPr/>
        </p:nvSpPr>
        <p:spPr>
          <a:xfrm>
            <a:off x="7905600" y="2905200"/>
            <a:ext cx="3142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Работа с ИИ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1" name="s5-bullets-3"/>
          <p:cNvSpPr/>
          <p:nvPr/>
        </p:nvSpPr>
        <p:spPr>
          <a:xfrm>
            <a:off x="7905600" y="3257640"/>
            <a:ext cx="3142440" cy="15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Вовлечённость растёт: побочные артефакты → тесты → ограниченный код.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Каждый prompt / response / diff проверяется студентами.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Архитектура и ядро обработки остаются за командой.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2" name="s5-artifact-band"/>
          <p:cNvSpPr/>
          <p:nvPr/>
        </p:nvSpPr>
        <p:spPr>
          <a:xfrm>
            <a:off x="781200" y="4857840"/>
            <a:ext cx="10629360" cy="1123200"/>
          </a:xfrm>
          <a:prstGeom prst="roundRect">
            <a:avLst>
              <a:gd name="adj" fmla="val 8475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3" name="s5-artifact-heading"/>
          <p:cNvSpPr/>
          <p:nvPr/>
        </p:nvSpPr>
        <p:spPr>
          <a:xfrm>
            <a:off x="990720" y="5000760"/>
            <a:ext cx="6190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Командный мини-проект №16: серверный ETL-сервис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s5-artifact"/>
          <p:cNvSpPr/>
          <p:nvPr/>
        </p:nvSpPr>
        <p:spPr>
          <a:xfrm>
            <a:off x="990720" y="5334120"/>
            <a:ext cx="1017216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Команда импортирует грязные CSV/JSON из нескольких источников, параллельно очищает и дедуплицирует данные, сохраняет результат в PostgreSQL через UPSERT и предоставляет HTTP API, DLQ и метрики импорта.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5" name="slide-number-4"/>
          <p:cNvSpPr/>
          <p:nvPr/>
        </p:nvSpPr>
        <p:spPr>
          <a:xfrm>
            <a:off x="11239560" y="6581880"/>
            <a:ext cx="3610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4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Прямоугольник 3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167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6840" cy="4807800"/>
          </a:xfrm>
          <a:prstGeom prst="rect">
            <a:avLst/>
          </a:prstGeom>
          <a:ln w="0">
            <a:noFill/>
          </a:ln>
        </p:spPr>
      </p:pic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38080" y="641520"/>
            <a:ext cx="10399320" cy="8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Git-репозиторий как цифровой учебный продукт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9" name="Подзаголовок 2"/>
          <p:cNvSpPr/>
          <p:nvPr/>
        </p:nvSpPr>
        <p:spPr>
          <a:xfrm>
            <a:off x="722880" y="182880"/>
            <a:ext cx="10514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0" name="Скругленный прямоугольник 7"/>
          <p:cNvSpPr/>
          <p:nvPr/>
        </p:nvSpPr>
        <p:spPr>
          <a:xfrm>
            <a:off x="412560" y="1701360"/>
            <a:ext cx="11207880" cy="485928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graphicFrame>
        <p:nvGraphicFramePr>
          <p:cNvPr id="171" name=""/>
          <p:cNvGraphicFramePr/>
          <p:nvPr/>
        </p:nvGraphicFramePr>
        <p:xfrm>
          <a:off x="743040" y="1971720"/>
          <a:ext cx="10714680" cy="2989440"/>
        </p:xfrm>
        <a:graphic>
          <a:graphicData uri="http://schemas.openxmlformats.org/drawingml/2006/table">
            <a:tbl>
              <a:tblPr/>
              <a:tblGrid>
                <a:gridCol w="2238120"/>
                <a:gridCol w="3047760"/>
                <a:gridCol w="5429160"/>
              </a:tblGrid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Раздел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Каталоги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Содержание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Учебный маршрут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Modules/ · Project/ · Exam/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15 индивидуальных КИМ, командный ETL-проект, 47 вопросов и генератор 25 билетов.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Оценивание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methodical-guidelines/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16 рубрик, 20 сквозных вариантов, материалы для студентов и преподавателей.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Ресурсы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resources/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Стартовые датасеты, инструкции по промптам, статьи и литература.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Документы и исходники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docs/ · data/ · meta/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РПД, чек-лист качества, исходные DOCX/XLSX и требования к проекту.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Команда и лицензия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team/ · LICENSE.md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Авторы, роли и вклад; открытая лицензия CC BY 4.0.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2" name="s6-result-band"/>
          <p:cNvSpPr/>
          <p:nvPr/>
        </p:nvSpPr>
        <p:spPr>
          <a:xfrm>
            <a:off x="781200" y="5114880"/>
            <a:ext cx="10629360" cy="780480"/>
          </a:xfrm>
          <a:prstGeom prst="roundRect">
            <a:avLst>
              <a:gd name="adj" fmla="val 12195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3" name="s6-result-heading"/>
          <p:cNvSpPr/>
          <p:nvPr/>
        </p:nvSpPr>
        <p:spPr>
          <a:xfrm>
            <a:off x="990720" y="5172120"/>
            <a:ext cx="2571120" cy="2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Результат проекта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s6-result"/>
          <p:cNvSpPr/>
          <p:nvPr/>
        </p:nvSpPr>
        <p:spPr>
          <a:xfrm>
            <a:off x="990720" y="5467320"/>
            <a:ext cx="1017216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Готовый к использованию открытый учебно-методический продукт: РПД, задания, оценивание, данные, инструкции и экзамен связаны в одном репозитории.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5" name="s6-url"/>
          <p:cNvSpPr/>
          <p:nvPr/>
        </p:nvSpPr>
        <p:spPr>
          <a:xfrm>
            <a:off x="2666880" y="6067440"/>
            <a:ext cx="6857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sng">
                <a:solidFill>
                  <a:srgbClr val="467886"/>
                </a:solidFill>
                <a:uFillTx/>
                <a:latin typeface="Arial"/>
                <a:ea typeface="Arial"/>
                <a:hlinkClick r:id="rId2"/>
              </a:rPr>
              <a:t>github.com/Stasychbr/top_ai_2026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6" name="slide-number-5"/>
          <p:cNvSpPr/>
          <p:nvPr/>
        </p:nvSpPr>
        <p:spPr>
          <a:xfrm>
            <a:off x="11239560" y="6581880"/>
            <a:ext cx="3610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5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Application>LibreOffice/24.8.3.1$Windows_X86_64 LibreOffice_project/65412f067af443213e726c93f137ccc85c9a1e06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2026-07-28T08:42:38Z</dcterms:created>
  <dc:creator>Walnut Exporter</dc:creator>
  <dc:description/>
  <dc:language>ru-RU</dc:language>
  <cp:lastModifiedBy>А М Гостин</cp:lastModifiedBy>
  <dcterms:modified xsi:type="dcterms:W3CDTF">2026-07-28T19:53:28Z</dcterms:modified>
  <cp:revision>3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