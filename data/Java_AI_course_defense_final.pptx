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_rels/slideMaster4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3.xml.rels" ContentType="application/vnd.openxmlformats-package.relationships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40.xml" ContentType="application/vnd.openxmlformats-officedocument.theme+xml"/>
  <Override PartName="/ppt/theme/theme6.xml" ContentType="application/vnd.openxmlformats-officedocument.theme+xml"/>
  <Override PartName="/ppt/theme/theme41.xml" ContentType="application/vnd.openxmlformats-officedocument.theme+xml"/>
  <Override PartName="/ppt/theme/theme7.xml" ContentType="application/vnd.openxmlformats-officedocument.theme+xml"/>
  <Override PartName="/ppt/theme/theme42.xml" ContentType="application/vnd.openxmlformats-officedocument.theme+xml"/>
  <Override PartName="/ppt/theme/theme8.xml" ContentType="application/vnd.openxmlformats-officedocument.theme+xml"/>
  <Override PartName="/ppt/theme/theme43.xml" ContentType="application/vnd.openxmlformats-officedocument.theme+xml"/>
  <Override PartName="/ppt/theme/theme9.xml" ContentType="application/vnd.openxmlformats-officedocument.theme+xml"/>
  <Override PartName="/ppt/theme/theme44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8" r:id="rId9"/>
    <p:sldMasterId id="2147483670" r:id="rId10"/>
    <p:sldMasterId id="2147483672" r:id="rId11"/>
    <p:sldMasterId id="2147483674" r:id="rId12"/>
    <p:sldMasterId id="2147483676" r:id="rId13"/>
    <p:sldMasterId id="2147483678" r:id="rId14"/>
    <p:sldMasterId id="2147483680" r:id="rId15"/>
    <p:sldMasterId id="2147483682" r:id="rId16"/>
    <p:sldMasterId id="2147483684" r:id="rId17"/>
    <p:sldMasterId id="2147483686" r:id="rId18"/>
    <p:sldMasterId id="2147483688" r:id="rId19"/>
    <p:sldMasterId id="2147483690" r:id="rId20"/>
    <p:sldMasterId id="2147483692" r:id="rId21"/>
    <p:sldMasterId id="2147483694" r:id="rId22"/>
    <p:sldMasterId id="2147483696" r:id="rId23"/>
    <p:sldMasterId id="2147483698" r:id="rId24"/>
    <p:sldMasterId id="2147483700" r:id="rId25"/>
    <p:sldMasterId id="2147483702" r:id="rId26"/>
    <p:sldMasterId id="2147483704" r:id="rId27"/>
    <p:sldMasterId id="2147483706" r:id="rId28"/>
    <p:sldMasterId id="2147483708" r:id="rId29"/>
    <p:sldMasterId id="2147483710" r:id="rId30"/>
    <p:sldMasterId id="2147483712" r:id="rId31"/>
    <p:sldMasterId id="2147483714" r:id="rId32"/>
    <p:sldMasterId id="2147483716" r:id="rId33"/>
    <p:sldMasterId id="2147483718" r:id="rId34"/>
    <p:sldMasterId id="2147483720" r:id="rId35"/>
    <p:sldMasterId id="2147483722" r:id="rId36"/>
    <p:sldMasterId id="2147483724" r:id="rId37"/>
    <p:sldMasterId id="2147483726" r:id="rId38"/>
    <p:sldMasterId id="2147483728" r:id="rId39"/>
    <p:sldMasterId id="2147483730" r:id="rId40"/>
    <p:sldMasterId id="2147483732" r:id="rId41"/>
    <p:sldMasterId id="2147483734" r:id="rId42"/>
    <p:sldMasterId id="2147483736" r:id="rId43"/>
    <p:sldMasterId id="2147483738" r:id="rId44"/>
    <p:sldMasterId id="2147483740" r:id="rId45"/>
    <p:sldMasterId id="2147483742" r:id="rId46"/>
    <p:sldMasterId id="2147483744" r:id="rId47"/>
    <p:sldMasterId id="2147483746" r:id="rId48"/>
    <p:sldMasterId id="2147483748" r:id="rId49"/>
    <p:sldMasterId id="2147483750" r:id="rId50"/>
    <p:sldMasterId id="2147483752" r:id="rId51"/>
    <p:sldMasterId id="2147483754" r:id="rId52"/>
    <p:sldMasterId id="2147483756" r:id="rId53"/>
    <p:sldMasterId id="2147483758" r:id="rId54"/>
  </p:sldMasterIdLst>
  <p:notesMasterIdLst>
    <p:notesMasterId r:id="rId55"/>
  </p:notes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notesMaster" Target="notesMasters/notes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перемещения страницы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4476158-A9F0-40B4-95FE-017D396BDAC4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presentation_defense.tex and presentation_defense.pdf, source slide 1.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presentation_defense.tex and presentation_defense.pdf, source slide 2.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rpd.md, sections 2–3 and 6–7.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presentation_defense.tex and presentation_defense.pdf, source slide 3.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rpd.md, sections 6–7 (competencies, roles, and thematic plan).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presentation_defense.tex and presentation_defense.pdf, source slide 3.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rpd.md, sections 6–7 (competencies, roles, and thematic plan).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presentation_defense.tex and presentation_defense.pdf, source slide 5.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User-provided rpd.md, section 7.3.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- GitHub repository Project/README.md at commit 23594a3c4e1c98532aeb6ac093e4c4e4c4733618: https://github.com/Stasychbr/top_ai_2026/blob/main/Project/README.md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presentation_defense.tex and presentation_defense.pdf, source slide 3.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rpd.md, sections 6–7 (competencies, roles, and thematic plan).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presentation_defense.tex and presentation_defense.pdf, source slide 3.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rpd.md, sections 6–7 (competencies, roles, and thematic plan).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presentation_defense.tex and presentation_defense.pdf, source slide 1.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- User-provided шаблон презентации(3).pptx for layout, branding, and inherited assets.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Обычный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Обычный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Обычный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Обычный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Обычный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1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3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6A13C8-566F-47EE-8CD6-F1425F7589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8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9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20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21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2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23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4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5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6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7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8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9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30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3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35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6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7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8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9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40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41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42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43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44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45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6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7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8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9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50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51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52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53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54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55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6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7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8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Для правки структуры щёлкните мышью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Второй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Для правки текста заглавия щёлкните мышью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28E19B-CF5D-4D29-8604-7BA6240977BB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Рисунок 6" descr=""/>
          <p:cNvPicPr/>
          <p:nvPr/>
        </p:nvPicPr>
        <p:blipFill>
          <a:blip r:embed="rId1"/>
          <a:stretch/>
        </p:blipFill>
        <p:spPr>
          <a:xfrm>
            <a:off x="0" y="1075320"/>
            <a:ext cx="845640" cy="1932480"/>
          </a:xfrm>
          <a:prstGeom prst="rect">
            <a:avLst/>
          </a:prstGeom>
          <a:ln w="0">
            <a:noFill/>
          </a:ln>
        </p:spPr>
      </p:pic>
      <p:sp>
        <p:nvSpPr>
          <p:cNvPr id="175" name="Прямоугольник 11"/>
          <p:cNvSpPr/>
          <p:nvPr/>
        </p:nvSpPr>
        <p:spPr>
          <a:xfrm>
            <a:off x="0" y="3923640"/>
            <a:ext cx="12189240" cy="293076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76" name="Рисунок 10" descr=""/>
          <p:cNvPicPr/>
          <p:nvPr/>
        </p:nvPicPr>
        <p:blipFill>
          <a:blip r:embed="rId2"/>
          <a:stretch/>
        </p:blipFill>
        <p:spPr>
          <a:xfrm>
            <a:off x="8764200" y="1362960"/>
            <a:ext cx="3424680" cy="4805640"/>
          </a:xfrm>
          <a:prstGeom prst="rect">
            <a:avLst/>
          </a:prstGeom>
          <a:ln w="0">
            <a:noFill/>
          </a:ln>
        </p:spPr>
      </p:pic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6440" y="3943800"/>
            <a:ext cx="9141120" cy="17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55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Java-разработка</a:t>
            </a:r>
            <a:r>
              <a:rPr b="1" lang="ru-RU" sz="255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 с использованием систем искусственного интеллекта: ООП и обработка данных</a:t>
            </a:r>
            <a:endParaRPr b="0" lang="en-US" sz="255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pic>
        <p:nvPicPr>
          <p:cNvPr id="178" name="Рисунок 4" descr=""/>
          <p:cNvPicPr/>
          <p:nvPr/>
        </p:nvPicPr>
        <p:blipFill>
          <a:blip r:embed="rId3"/>
          <a:stretch/>
        </p:blipFill>
        <p:spPr>
          <a:xfrm>
            <a:off x="676440" y="386280"/>
            <a:ext cx="5319360" cy="326880"/>
          </a:xfrm>
          <a:prstGeom prst="rect">
            <a:avLst/>
          </a:prstGeom>
          <a:ln w="0">
            <a:noFill/>
          </a:ln>
        </p:spPr>
      </p:pic>
      <p:pic>
        <p:nvPicPr>
          <p:cNvPr id="179" name="Рисунок 8" descr=""/>
          <p:cNvPicPr/>
          <p:nvPr/>
        </p:nvPicPr>
        <p:blipFill>
          <a:blip r:embed="rId4"/>
          <a:stretch/>
        </p:blipFill>
        <p:spPr>
          <a:xfrm>
            <a:off x="9823320" y="391680"/>
            <a:ext cx="1689480" cy="326880"/>
          </a:xfrm>
          <a:prstGeom prst="rect">
            <a:avLst/>
          </a:prstGeom>
          <a:ln w="0">
            <a:noFill/>
          </a:ln>
        </p:spPr>
      </p:pic>
      <p:sp>
        <p:nvSpPr>
          <p:cNvPr id="180" name="Подзаголовок 2"/>
          <p:cNvSpPr/>
          <p:nvPr/>
        </p:nvSpPr>
        <p:spPr>
          <a:xfrm>
            <a:off x="676440" y="2867040"/>
            <a:ext cx="914112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0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Преподавание современного ИИ на топ-уровне: </a:t>
            </a:r>
            <a:br>
              <a:rPr sz="2000"/>
            </a:br>
            <a:r>
              <a:rPr b="1" lang="en-US" sz="20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системное видение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ubTitle"/>
          </p:nvPr>
        </p:nvSpPr>
        <p:spPr>
          <a:xfrm>
            <a:off x="460440" y="5421240"/>
            <a:ext cx="11442240" cy="129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228600" defTabSz="914400">
              <a:lnSpc>
                <a:spcPct val="90000"/>
              </a:lnSpc>
              <a:spcBef>
                <a:spcPts val="283"/>
              </a:spcBef>
              <a:spcAft>
                <a:spcPts val="567"/>
              </a:spcAft>
              <a:tabLst>
                <a:tab algn="l" pos="0"/>
              </a:tabLst>
            </a:pPr>
            <a:r>
              <a:rPr b="1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Команда проекта ДПО «Топ-ИИ»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 · </a:t>
            </a:r>
            <a:r>
              <a:rPr b="1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№ 27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914400">
              <a:lnSpc>
                <a:spcPct val="90000"/>
              </a:lnSpc>
              <a:spcBef>
                <a:spcPts val="283"/>
              </a:spcBef>
              <a:tabLst>
                <a:tab algn="l" pos="0"/>
                <a:tab algn="l" pos="2759400"/>
                <a:tab algn="l" pos="5897160"/>
                <a:tab algn="l" pos="911880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Гостин Алексей Михайлович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	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| РГРТУ 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	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Кирпиченко Станислав Романович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	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| СПбПУ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914400">
              <a:lnSpc>
                <a:spcPct val="90000"/>
              </a:lnSpc>
              <a:spcBef>
                <a:spcPts val="283"/>
              </a:spcBef>
              <a:tabLst>
                <a:tab algn="l" pos="0"/>
                <a:tab algn="l" pos="2759400"/>
                <a:tab algn="l" pos="5897160"/>
                <a:tab algn="l" pos="911880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Дмитриев Егор Алексеевич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	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| Университет Иннополис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	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Подколзин Вадим Владиславович 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	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| КубГУ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914400">
              <a:lnSpc>
                <a:spcPct val="90000"/>
              </a:lnSpc>
              <a:spcBef>
                <a:spcPts val="283"/>
              </a:spcBef>
              <a:tabLst>
                <a:tab algn="l" pos="0"/>
                <a:tab algn="l" pos="2759400"/>
                <a:tab algn="l" pos="5897160"/>
                <a:tab algn="l" pos="911880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Ермолаева Ольга Сергеевна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	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| РГАУ-МСХА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	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Ржаникова Елена Дмитриевна 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	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| ВятГУ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914400">
              <a:lnSpc>
                <a:spcPct val="90000"/>
              </a:lnSpc>
              <a:spcBef>
                <a:spcPts val="850"/>
              </a:spcBef>
              <a:tabLst>
                <a:tab algn="l" pos="0"/>
                <a:tab algn="l" pos="986112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ru-RU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ru-RU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     </a:t>
            </a: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©</a:t>
            </a:r>
            <a:r>
              <a:rPr b="0" lang="ru-RU" sz="1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  2026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Прямоугольник 5"/>
          <p:cNvSpPr/>
          <p:nvPr/>
        </p:nvSpPr>
        <p:spPr>
          <a:xfrm>
            <a:off x="0" y="0"/>
            <a:ext cx="12188880" cy="685476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pic>
        <p:nvPicPr>
          <p:cNvPr id="183" name="Рисунок 7" descr=""/>
          <p:cNvPicPr/>
          <p:nvPr/>
        </p:nvPicPr>
        <p:blipFill>
          <a:blip r:embed="rId1"/>
          <a:stretch/>
        </p:blipFill>
        <p:spPr>
          <a:xfrm>
            <a:off x="8764200" y="347760"/>
            <a:ext cx="3424320" cy="4805280"/>
          </a:xfrm>
          <a:prstGeom prst="rect">
            <a:avLst/>
          </a:prstGeom>
          <a:ln w="0">
            <a:noFill/>
          </a:ln>
        </p:spPr>
      </p:pic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641520"/>
            <a:ext cx="10396800" cy="87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32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Актуальность и целеполагание</a:t>
            </a:r>
            <a:endParaRPr b="0" lang="ru-RU" sz="23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Подзаголовок 4"/>
          <p:cNvSpPr/>
          <p:nvPr/>
        </p:nvSpPr>
        <p:spPr>
          <a:xfrm>
            <a:off x="722880" y="182880"/>
            <a:ext cx="105123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Golos Text"/>
                <a:ea typeface="Golos Text"/>
              </a:rPr>
              <a:t>Преподавание современного ИИ на топ-уровне: системное видение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Скругленный прямоугольник 2"/>
          <p:cNvSpPr/>
          <p:nvPr/>
        </p:nvSpPr>
        <p:spPr>
          <a:xfrm>
            <a:off x="412560" y="1701360"/>
            <a:ext cx="11205360" cy="4856760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t">
            <a:spAutoFit/>
          </a:bodyPr>
          <a:p>
            <a:endParaRPr b="0" lang="en-US" sz="1400" strike="noStrike" u="none">
              <a:solidFill>
                <a:srgbClr val="17324d"/>
              </a:solidFill>
              <a:uFillTx/>
              <a:latin typeface="Arial"/>
              <a:ea typeface="Arial"/>
            </a:endParaRPr>
          </a:p>
        </p:txBody>
      </p:sp>
      <p:sp>
        <p:nvSpPr>
          <p:cNvPr id="187" name="s2-heading- 4"/>
          <p:cNvSpPr/>
          <p:nvPr/>
        </p:nvSpPr>
        <p:spPr>
          <a:xfrm>
            <a:off x="876240" y="1896480"/>
            <a:ext cx="310176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Для кого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s2-bullets- 4"/>
          <p:cNvSpPr/>
          <p:nvPr/>
        </p:nvSpPr>
        <p:spPr>
          <a:xfrm>
            <a:off x="876240" y="2268000"/>
            <a:ext cx="3101760" cy="13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Студенты ИТ-направлений, которым нужна современная база ООП и серверной разработки.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Инженеры по данным и архитекторы ИИ.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s2-heading- 5"/>
          <p:cNvSpPr/>
          <p:nvPr/>
        </p:nvSpPr>
        <p:spPr>
          <a:xfrm>
            <a:off x="4381560" y="1896480"/>
            <a:ext cx="310176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Почему эта дисциплина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s2-bullets- 5"/>
          <p:cNvSpPr/>
          <p:nvPr/>
        </p:nvSpPr>
        <p:spPr>
          <a:xfrm>
            <a:off x="4381560" y="2268000"/>
            <a:ext cx="3101760" cy="13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Java и ООП формируют базовую инженерную подготовку разработчика в любой области, включая ИИ.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ИИ-системам нужны надёжные компоненты, сервисы и ETL-пайплайны.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s2-heading- 6"/>
          <p:cNvSpPr/>
          <p:nvPr/>
        </p:nvSpPr>
        <p:spPr>
          <a:xfrm>
            <a:off x="7886880" y="1896480"/>
            <a:ext cx="310176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Что оригинального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s2-bullets- 6"/>
          <p:cNvSpPr/>
          <p:nvPr/>
        </p:nvSpPr>
        <p:spPr>
          <a:xfrm>
            <a:off x="7886880" y="2268000"/>
            <a:ext cx="3101760" cy="13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Практическое задание развивается от класса до серверного сервиса.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ИИ встроен в проверяемый инженерный цикл.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Приобретаются навыки командной работы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93" name=""/>
          <p:cNvGrpSpPr/>
          <p:nvPr/>
        </p:nvGrpSpPr>
        <p:grpSpPr>
          <a:xfrm>
            <a:off x="781200" y="3708000"/>
            <a:ext cx="10626840" cy="897480"/>
            <a:chOff x="781200" y="3708000"/>
            <a:chExt cx="10626840" cy="897480"/>
          </a:xfrm>
        </p:grpSpPr>
        <p:sp>
          <p:nvSpPr>
            <p:cNvPr id="194" name="s2-goal-band"/>
            <p:cNvSpPr/>
            <p:nvPr/>
          </p:nvSpPr>
          <p:spPr>
            <a:xfrm>
              <a:off x="781200" y="3708000"/>
              <a:ext cx="10626840" cy="897480"/>
            </a:xfrm>
            <a:prstGeom prst="roundRect">
              <a:avLst>
                <a:gd name="adj" fmla="val 8929"/>
              </a:avLst>
            </a:prstGeom>
            <a:noFill/>
            <a:ln w="9525">
              <a:solidFill>
                <a:srgbClr val="bcd0e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5" name="s2-goal-heading"/>
            <p:cNvSpPr/>
            <p:nvPr/>
          </p:nvSpPr>
          <p:spPr>
            <a:xfrm>
              <a:off x="990720" y="3748680"/>
              <a:ext cx="1425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600" strike="noStrike" u="none">
                  <a:solidFill>
                    <a:srgbClr val="06498f"/>
                  </a:solidFill>
                  <a:uFillTx/>
                  <a:latin typeface="Arial"/>
                  <a:ea typeface="Arial"/>
                </a:rPr>
                <a:t>Цель:</a:t>
              </a:r>
              <a:endParaRPr b="0" lang="ru-RU" sz="1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6" name="s2-goal"/>
            <p:cNvSpPr/>
            <p:nvPr/>
          </p:nvSpPr>
          <p:spPr>
            <a:xfrm>
              <a:off x="990720" y="4053240"/>
              <a:ext cx="10169640" cy="45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rm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400" strike="noStrike" u="none">
                  <a:solidFill>
                    <a:srgbClr val="17324d"/>
                  </a:solidFill>
                  <a:uFillTx/>
                  <a:latin typeface="Arial"/>
                  <a:ea typeface="Arial"/>
                </a:rPr>
                <a:t>Сформировать системные навыки Java-разработки для создания надёжного, масштабируемого серверного ПО и ETL-решений с осознанным применением ИИ-инструментов.</a:t>
              </a:r>
              <a:endParaRPr b="0" lang="ru-RU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97" name="s2-goal-band 2"/>
          <p:cNvSpPr/>
          <p:nvPr/>
        </p:nvSpPr>
        <p:spPr>
          <a:xfrm>
            <a:off x="781200" y="4752000"/>
            <a:ext cx="10626840" cy="1545480"/>
          </a:xfrm>
          <a:prstGeom prst="roundRect">
            <a:avLst>
              <a:gd name="adj" fmla="val 8929"/>
            </a:avLst>
          </a:prstGeom>
          <a:noFill/>
          <a:ln w="9525">
            <a:solidFill>
              <a:srgbClr val="bcd0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s2-goal-heading 2"/>
          <p:cNvSpPr/>
          <p:nvPr/>
        </p:nvSpPr>
        <p:spPr>
          <a:xfrm>
            <a:off x="990720" y="4828680"/>
            <a:ext cx="224676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Задачи дисциплины: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s2-goal 2"/>
          <p:cNvSpPr/>
          <p:nvPr/>
        </p:nvSpPr>
        <p:spPr>
          <a:xfrm>
            <a:off x="990720" y="5025240"/>
            <a:ext cx="10346760" cy="12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232323"/>
                </a:solidFill>
                <a:uFillTx/>
                <a:latin typeface="Arial"/>
                <a:ea typeface="SFSS0900"/>
              </a:rPr>
              <a:t>Освоить ООП-парадигму.  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232323"/>
                </a:solidFill>
                <a:uFillTx/>
                <a:latin typeface="Arial"/>
                <a:ea typeface="SFSS0900"/>
              </a:rPr>
              <a:t>Научиться разрабатывать прикладные решения на Java.  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232323"/>
                </a:solidFill>
                <a:uFillTx/>
                <a:latin typeface="Arial"/>
                <a:ea typeface="SFSS0900"/>
              </a:rPr>
              <a:t>Сформировать навыки многопоточного программирования и работы с реляционными БД.  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232323"/>
                </a:solidFill>
                <a:uFillTx/>
                <a:latin typeface="Arial"/>
                <a:ea typeface="SFSS0900"/>
              </a:rPr>
              <a:t>Научиться создавать ETL-пайплайны с обработкой ошибок, логированием, метриками и идемпотентной загрузкой. 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232323"/>
                </a:solidFill>
                <a:uFillTx/>
                <a:latin typeface="Arial"/>
                <a:ea typeface="SFSS0900"/>
              </a:rPr>
              <a:t>Научиться применять ИИ-инструменты для генерации, рефакторинга и проверки кода без потери инженерного контроля.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1772000" y="6451920"/>
            <a:ext cx="3304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fld id="{BB6C4EDB-9EA5-4C1D-B83F-8CAC0B45D0DD}" type="slidenum">
              <a:rPr b="0" lang="ru-RU" sz="16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6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49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Скругленный прямоугольник 1"/>
          <p:cNvSpPr/>
          <p:nvPr/>
        </p:nvSpPr>
        <p:spPr>
          <a:xfrm>
            <a:off x="360000" y="504000"/>
            <a:ext cx="11520000" cy="6156000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t">
            <a:spAutoFit/>
          </a:bodyPr>
          <a:p>
            <a:endParaRPr b="0" lang="en-US" sz="1400" strike="noStrike" u="none">
              <a:solidFill>
                <a:srgbClr val="17324d"/>
              </a:solidFill>
              <a:uFillTx/>
              <a:latin typeface="Arial"/>
              <a:ea typeface="Arial"/>
            </a:endParaRPr>
          </a:p>
        </p:txBody>
      </p:sp>
      <p:sp>
        <p:nvSpPr>
          <p:cNvPr id="202" name="Прямоугольник 3"/>
          <p:cNvSpPr/>
          <p:nvPr/>
        </p:nvSpPr>
        <p:spPr>
          <a:xfrm>
            <a:off x="0" y="0"/>
            <a:ext cx="12191760" cy="456840"/>
          </a:xfrm>
          <a:prstGeom prst="rect">
            <a:avLst/>
          </a:prstGeom>
          <a:solidFill>
            <a:srgbClr val="06498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8080" y="461520"/>
            <a:ext cx="10397160" cy="8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32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Состав и содержание программы</a:t>
            </a:r>
            <a:endParaRPr b="0" lang="en-US" sz="232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graphicFrame>
        <p:nvGraphicFramePr>
          <p:cNvPr id="204" name="Таблица 274"/>
          <p:cNvGraphicFramePr/>
          <p:nvPr/>
        </p:nvGraphicFramePr>
        <p:xfrm>
          <a:off x="564840" y="1247760"/>
          <a:ext cx="11062080" cy="3897720"/>
        </p:xfrm>
        <a:graphic>
          <a:graphicData uri="http://schemas.openxmlformats.org/drawingml/2006/table">
            <a:tbl>
              <a:tblPr/>
              <a:tblGrid>
                <a:gridCol w="298080"/>
                <a:gridCol w="1772280"/>
                <a:gridCol w="595800"/>
                <a:gridCol w="1070640"/>
                <a:gridCol w="1315440"/>
                <a:gridCol w="846360"/>
                <a:gridCol w="5163840"/>
              </a:tblGrid>
              <a:tr h="433080"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№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Модуль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Часов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Виды занятий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Компетенции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Уровень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Накопительный результат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</a:tr>
              <a:tr h="433080"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Основы ООП, промптинг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8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 - 4, </a:t>
                      </a:r>
                      <a:br>
                        <a:rPr sz="18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- 6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PL-2.1;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Предметная модель, контракты, наследование и полиморфизм, основы промптинга, генерация документации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3080"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2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Коллекции, generics, исключения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8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 - 2, </a:t>
                      </a:r>
                      <a:br>
                        <a:rPr sz="18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- 6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PL-2.1;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Типобезопасная обработка, проверка и журналирование, </a:t>
                      </a:r>
                      <a:br>
                        <a:rPr sz="18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генерация тестов, code review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3080"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3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Ввод-вывод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 - 2, 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- 4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PL-2.1;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CSV/JSON/XML-представления одной предметной области, 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генерация тестовых наборов данных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3080"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4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Многопоточность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 - 2, </a:t>
                      </a:r>
                      <a:br>
                        <a:rPr sz="18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- 4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PL-2.1;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Безопасная конкурентная обработка нескольких источников, 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создание стресс тестов с помощью ИИ-инструментов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33080"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5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noFill/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Базы данных и JDBC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noFill/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noFill/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 - 2, </a:t>
                      </a:r>
                      <a:br>
                        <a:rPr sz="18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- 4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noFill/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PL-2.1;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noFill/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noFill/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DAO, транзакции, batch insert и UPSERT в PostgreSQL,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промпты для работы с БД, проверка rollback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noFill/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3080"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ETL-пайплайн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 - 2, </a:t>
                      </a:r>
                      <a:br>
                        <a:rPr sz="1800"/>
                      </a:b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- 4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PL-2.2;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Extract–Transform–Load, DLQ, метрики, идемпотентность,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ETL-промпты для интеграционного тестирования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3080"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7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ИИ-инструменты и мини-проект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6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 - 2,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Проект - 4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PL-2.1; PL-2.2;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Б, С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Вайб-кодинг и code review; проверяемая работа с агентом; серверный ETL-сервис.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3080"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8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Контроль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8.75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Экзамен 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PL-2.1; PL-2.2;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LLM-5.1; LLM-5.2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Б, С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7520" r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Теоретическое закрепление знаний по курсу 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47520" marR="4752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5" name="s3-hours"/>
          <p:cNvSpPr/>
          <p:nvPr/>
        </p:nvSpPr>
        <p:spPr>
          <a:xfrm>
            <a:off x="800280" y="5552640"/>
            <a:ext cx="3254760" cy="9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Трудоемкость 108 часов / 3 з.е.</a:t>
            </a:r>
            <a:endParaRPr b="0" lang="ru-RU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16 ч. лекций · 30 ч. лабораторных · </a:t>
            </a:r>
            <a:endParaRPr b="0" lang="ru-RU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4 ч. мини-проекта · </a:t>
            </a:r>
            <a:endParaRPr b="0" lang="ru-RU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58 ч. самостоятельной работы.</a:t>
            </a:r>
            <a:endParaRPr b="0" lang="ru-RU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6" name="s3-roles"/>
          <p:cNvSpPr/>
          <p:nvPr/>
        </p:nvSpPr>
        <p:spPr>
          <a:xfrm>
            <a:off x="4324320" y="5552640"/>
            <a:ext cx="2949840" cy="9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Развиваемые роли</a:t>
            </a:r>
            <a:endParaRPr b="0" lang="ru-RU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Инженер по данным — PL-2.1–2.2.</a:t>
            </a:r>
            <a:endParaRPr b="0" lang="ru-RU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Архитектор ИИ — LLM-5.1–5.2.</a:t>
            </a:r>
            <a:endParaRPr b="0" lang="ru-RU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7" name="s3-ai-throughline"/>
          <p:cNvSpPr/>
          <p:nvPr/>
        </p:nvSpPr>
        <p:spPr>
          <a:xfrm>
            <a:off x="7524720" y="5552640"/>
            <a:ext cx="3883320" cy="9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ИИ проходит через весь курс</a:t>
            </a:r>
            <a:endParaRPr b="0" lang="ru-RU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Проектирование → ограниченные фрагменты кода</a:t>
            </a:r>
            <a:r>
              <a:rPr b="0" lang="ru-RU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 </a:t>
            </a: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→ тесты → анализ (code review)</a:t>
            </a:r>
            <a:endParaRPr b="0" lang="ru-RU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Каждый результат проверяет студент</a:t>
            </a:r>
            <a:endParaRPr b="0" lang="ru-RU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8" name="Подзаголовок 6"/>
          <p:cNvSpPr/>
          <p:nvPr/>
        </p:nvSpPr>
        <p:spPr>
          <a:xfrm>
            <a:off x="723960" y="66600"/>
            <a:ext cx="105152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Golos Text"/>
                <a:ea typeface="Arial"/>
              </a:rPr>
              <a:t>Преподавание современного ИИ на топ-уровне: системное видение</a:t>
            </a:r>
            <a:endParaRPr b="0" lang="ru-RU" sz="1800" strike="noStrike" u="none">
              <a:solidFill>
                <a:srgbClr val="ffffff"/>
              </a:solidFill>
              <a:uFillTx/>
              <a:latin typeface="Golos Text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1772000" y="6451920"/>
            <a:ext cx="3304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fld id="{27E79268-6E69-442B-8DAC-C6F58BDE33DE}" type="slidenum">
              <a:rPr b="0" lang="ru-RU" sz="16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6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49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Скругленный прямоугольник 4"/>
          <p:cNvSpPr/>
          <p:nvPr/>
        </p:nvSpPr>
        <p:spPr>
          <a:xfrm>
            <a:off x="360000" y="504000"/>
            <a:ext cx="11520000" cy="6156000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t">
            <a:spAutoFit/>
          </a:bodyPr>
          <a:p>
            <a:endParaRPr b="0" lang="en-US" sz="1400" strike="noStrike" u="none">
              <a:solidFill>
                <a:srgbClr val="17324d"/>
              </a:solidFill>
              <a:uFillTx/>
              <a:latin typeface="Arial"/>
              <a:ea typeface="Arial"/>
            </a:endParaRPr>
          </a:p>
        </p:txBody>
      </p:sp>
      <p:sp>
        <p:nvSpPr>
          <p:cNvPr id="211" name="Прямоугольник 7"/>
          <p:cNvSpPr/>
          <p:nvPr/>
        </p:nvSpPr>
        <p:spPr>
          <a:xfrm>
            <a:off x="0" y="0"/>
            <a:ext cx="12191760" cy="456840"/>
          </a:xfrm>
          <a:prstGeom prst="rect">
            <a:avLst/>
          </a:prstGeom>
          <a:solidFill>
            <a:srgbClr val="06498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838080" y="461520"/>
            <a:ext cx="10397160" cy="8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32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Фонд оценочных средств – модель измерений</a:t>
            </a:r>
            <a:endParaRPr b="0" lang="en-US" sz="232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13" name="Подзаголовок 7"/>
          <p:cNvSpPr/>
          <p:nvPr/>
        </p:nvSpPr>
        <p:spPr>
          <a:xfrm>
            <a:off x="723960" y="66600"/>
            <a:ext cx="105152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Golos Text"/>
                <a:ea typeface="Arial"/>
              </a:rPr>
              <a:t>Преподавание современного ИИ на топ-уровне: системное видение</a:t>
            </a:r>
            <a:endParaRPr b="0" lang="ru-RU" sz="1800" strike="noStrike" u="none">
              <a:solidFill>
                <a:srgbClr val="ffffff"/>
              </a:solidFill>
              <a:uFillTx/>
              <a:latin typeface="Golos Text"/>
            </a:endParaRPr>
          </a:p>
        </p:txBody>
      </p:sp>
      <p:graphicFrame>
        <p:nvGraphicFramePr>
          <p:cNvPr id="214" name="Таблица 1"/>
          <p:cNvGraphicFramePr/>
          <p:nvPr/>
        </p:nvGraphicFramePr>
        <p:xfrm>
          <a:off x="638640" y="1230480"/>
          <a:ext cx="11058120" cy="4412880"/>
        </p:xfrm>
        <a:graphic>
          <a:graphicData uri="http://schemas.openxmlformats.org/drawingml/2006/table">
            <a:tbl>
              <a:tblPr/>
              <a:tblGrid>
                <a:gridCol w="314280"/>
                <a:gridCol w="2342880"/>
                <a:gridCol w="1485720"/>
                <a:gridCol w="914400"/>
                <a:gridCol w="842760"/>
                <a:gridCol w="3605040"/>
                <a:gridCol w="895320"/>
                <a:gridCol w="657000"/>
              </a:tblGrid>
              <a:tr h="438120"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№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Модуль / элемент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Код и название компетенции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Индикатор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Уровень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Дескриптор освоения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Форма контроля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КИМ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</a:tr>
              <a:tr h="504720"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Основы ООП / Введение в ООП. Классы, объекты, инкапсуляция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 Java/Scala/Kotlin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Знает основы ООП для задач серверного программирования.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Промеж.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sng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Лекция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4720"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2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Промпт-инжиниринг и ИИ-инструменты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 Промпт-инженерия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LLM-5.1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Знает модель «разработчик → ИИ-ассистент → результат», ограничения и небезопасные паттерны.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Промеж.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sng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Лекция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4720"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3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Основы ООП / Настройка окружения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 Java/Scala/Kotlin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Умеет настраивать среду Java для серверных задач.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Текущая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sng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4720"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4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Основы ООП / Исключения. Первый класс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 Промпт-инженерия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LLM-5.1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Умеет конструировать промпт и проверять полученный результат.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Текущая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sng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Лаб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504720"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43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Интеграционный проект / командный мини-проект: серверный ETL-сервис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 Java/Scala/Kotlin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PL-2.1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С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Интегрирует конкурентный ETL, PostgreSQL и HTTP API; проверяет ИИ-артефакты.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Рубежная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sng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Проект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</a:tr>
              <a:tr h="504720"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50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Экзамен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 Промпт-инженерия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С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Воспроизводит данные, код и тесты; формулирует рекомендации ИИ-ассистента.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Промеж.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sng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Билеты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"/>
                    </a:lnT>
                    <a:lnB w="12240">
                      <a:solidFill>
                        <a:srgbClr val="000000"/>
                      </a:solidFill>
                      <a:prstDash val=""/>
                    </a:lnB>
                    <a:noFill/>
                  </a:tcPr>
                </a:tc>
              </a:tr>
              <a:tr h="504720"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58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Итоговая аттестация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 Промпт-инженерия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С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Выбирает и адаптирует шаблоны под задачу.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Итоговая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tIns="28440" bIns="28440" anchor="ctr">
                      <a:noAutofit/>
                    </a:bodyPr>
                    <a:p>
                      <a:endParaRPr b="0" lang="ru-RU" sz="1800" strike="noStrike" u="none">
                        <a:solidFill>
                          <a:schemeClr val="dk1"/>
                        </a:solidFill>
                        <a:uFillTx/>
                        <a:latin typeface="Aptos"/>
                      </a:endParaRPr>
                    </a:p>
                  </a:txBody>
                  <a:tcPr anchor="ctr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5" name=""/>
          <p:cNvSpPr txBox="1"/>
          <p:nvPr/>
        </p:nvSpPr>
        <p:spPr>
          <a:xfrm>
            <a:off x="11772000" y="6451920"/>
            <a:ext cx="3304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fld id="{E4FCD9AC-DECD-4978-BAAB-8C0CBDCB4C43}" type="slidenum">
              <a:rPr b="0" lang="ru-RU" sz="16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6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Прямоугольник 6"/>
          <p:cNvSpPr/>
          <p:nvPr/>
        </p:nvSpPr>
        <p:spPr>
          <a:xfrm>
            <a:off x="0" y="0"/>
            <a:ext cx="12188880" cy="685476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pic>
        <p:nvPicPr>
          <p:cNvPr id="217" name="Рисунок 9" descr=""/>
          <p:cNvPicPr/>
          <p:nvPr/>
        </p:nvPicPr>
        <p:blipFill>
          <a:blip r:embed="rId1"/>
          <a:stretch/>
        </p:blipFill>
        <p:spPr>
          <a:xfrm>
            <a:off x="8764200" y="347760"/>
            <a:ext cx="3424320" cy="4805280"/>
          </a:xfrm>
          <a:prstGeom prst="rect">
            <a:avLst/>
          </a:prstGeom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838080" y="641520"/>
            <a:ext cx="10396800" cy="87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32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Фонд оценочных средств - командная работа</a:t>
            </a:r>
            <a:endParaRPr b="0" lang="ru-RU" sz="23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Подзаголовок 5"/>
          <p:cNvSpPr/>
          <p:nvPr/>
        </p:nvSpPr>
        <p:spPr>
          <a:xfrm>
            <a:off x="722880" y="182880"/>
            <a:ext cx="105123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Golos Text"/>
                <a:ea typeface="Golos Text"/>
              </a:rPr>
              <a:t>Преподавание современного ИИ на топ-уровне: системное видение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Скругленный прямоугольник 3"/>
          <p:cNvSpPr/>
          <p:nvPr/>
        </p:nvSpPr>
        <p:spPr>
          <a:xfrm>
            <a:off x="412560" y="1701360"/>
            <a:ext cx="11205360" cy="4856760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221" name="s5-metric- 6"/>
          <p:cNvSpPr/>
          <p:nvPr/>
        </p:nvSpPr>
        <p:spPr>
          <a:xfrm>
            <a:off x="819000" y="1962000"/>
            <a:ext cx="14256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15</a:t>
            </a:r>
            <a:endParaRPr b="0" lang="ru-RU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s5-label- 6"/>
          <p:cNvSpPr/>
          <p:nvPr/>
        </p:nvSpPr>
        <p:spPr>
          <a:xfrm>
            <a:off x="819000" y="2352600"/>
            <a:ext cx="142560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индивидуальных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КИМ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s5-metric- 7"/>
          <p:cNvSpPr/>
          <p:nvPr/>
        </p:nvSpPr>
        <p:spPr>
          <a:xfrm>
            <a:off x="3086280" y="1962000"/>
            <a:ext cx="14256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20</a:t>
            </a:r>
            <a:endParaRPr b="0" lang="ru-RU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s5-label- 7"/>
          <p:cNvSpPr/>
          <p:nvPr/>
        </p:nvSpPr>
        <p:spPr>
          <a:xfrm>
            <a:off x="3086280" y="2352600"/>
            <a:ext cx="142560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сквозных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вариантов ЛР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s5-metric- 8"/>
          <p:cNvSpPr/>
          <p:nvPr/>
        </p:nvSpPr>
        <p:spPr>
          <a:xfrm>
            <a:off x="5353200" y="1962000"/>
            <a:ext cx="14256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16</a:t>
            </a:r>
            <a:endParaRPr b="0" lang="ru-RU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s5-label- 8"/>
          <p:cNvSpPr/>
          <p:nvPr/>
        </p:nvSpPr>
        <p:spPr>
          <a:xfrm>
            <a:off x="5353200" y="2352600"/>
            <a:ext cx="142560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тематических рубрик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s5-metric- 9"/>
          <p:cNvSpPr/>
          <p:nvPr/>
        </p:nvSpPr>
        <p:spPr>
          <a:xfrm>
            <a:off x="7620120" y="1962000"/>
            <a:ext cx="14256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11</a:t>
            </a:r>
            <a:endParaRPr b="0" lang="ru-RU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s5-label- 9"/>
          <p:cNvSpPr/>
          <p:nvPr/>
        </p:nvSpPr>
        <p:spPr>
          <a:xfrm>
            <a:off x="7620120" y="2352600"/>
            <a:ext cx="142560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стартовых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датасетов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s5-metric- 10"/>
          <p:cNvSpPr/>
          <p:nvPr/>
        </p:nvSpPr>
        <p:spPr>
          <a:xfrm>
            <a:off x="9887040" y="1962000"/>
            <a:ext cx="14256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47</a:t>
            </a:r>
            <a:endParaRPr b="0" lang="ru-RU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s5-label- 10"/>
          <p:cNvSpPr/>
          <p:nvPr/>
        </p:nvSpPr>
        <p:spPr>
          <a:xfrm>
            <a:off x="9887040" y="2352600"/>
            <a:ext cx="142560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вопросов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2667a"/>
                </a:solidFill>
                <a:uFillTx/>
                <a:latin typeface="Arial"/>
                <a:ea typeface="Arial"/>
              </a:rPr>
              <a:t>к экзамену</a:t>
            </a:r>
            <a:endParaRPr b="0" lang="ru-RU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s5-heading- 4"/>
          <p:cNvSpPr/>
          <p:nvPr/>
        </p:nvSpPr>
        <p:spPr>
          <a:xfrm>
            <a:off x="876240" y="2905200"/>
            <a:ext cx="31399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Проверки кода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s5-bullets- 4"/>
          <p:cNvSpPr/>
          <p:nvPr/>
        </p:nvSpPr>
        <p:spPr>
          <a:xfrm>
            <a:off x="876240" y="3257640"/>
            <a:ext cx="3139920" cy="15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JUnit и integration tests.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Stress test конкурентности.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Rollback и два идемпотентных запуска.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s5-heading- 5"/>
          <p:cNvSpPr/>
          <p:nvPr/>
        </p:nvSpPr>
        <p:spPr>
          <a:xfrm>
            <a:off x="4390920" y="2905200"/>
            <a:ext cx="31399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Мини-проект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s5-bullets- 5"/>
          <p:cNvSpPr/>
          <p:nvPr/>
        </p:nvSpPr>
        <p:spPr>
          <a:xfrm>
            <a:off x="4390920" y="3257640"/>
            <a:ext cx="3139920" cy="15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Команда из 2–3 человек.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Серверный сервис: CSV/JSON → конкурентный ETL → PostgreSQL.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HTTP API, DLQ, метрики и идемпотентный UPSERT.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s5-heading- 6"/>
          <p:cNvSpPr/>
          <p:nvPr/>
        </p:nvSpPr>
        <p:spPr>
          <a:xfrm>
            <a:off x="7905600" y="2905200"/>
            <a:ext cx="31399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Работа с ИИ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s5-bullets- 6"/>
          <p:cNvSpPr/>
          <p:nvPr/>
        </p:nvSpPr>
        <p:spPr>
          <a:xfrm>
            <a:off x="7905600" y="3257640"/>
            <a:ext cx="3139920" cy="15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Вовлечённость растёт: проектирование → органиченный код </a:t>
            </a: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→ тесты → анализ.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Каждый prompt / response / diff проверяется студентами.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1"/>
              </a:spcAft>
              <a:buClr>
                <a:srgbClr val="17324d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Архитектура и ядро обработки остаются за командой.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s5-artifact-band 2"/>
          <p:cNvSpPr/>
          <p:nvPr/>
        </p:nvSpPr>
        <p:spPr>
          <a:xfrm>
            <a:off x="781200" y="4857840"/>
            <a:ext cx="10626840" cy="1120680"/>
          </a:xfrm>
          <a:prstGeom prst="roundRect">
            <a:avLst>
              <a:gd name="adj" fmla="val 8475"/>
            </a:avLst>
          </a:prstGeom>
          <a:noFill/>
          <a:ln w="9525">
            <a:solidFill>
              <a:srgbClr val="bcd0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s5-artifact-heading 2"/>
          <p:cNvSpPr/>
          <p:nvPr/>
        </p:nvSpPr>
        <p:spPr>
          <a:xfrm>
            <a:off x="990720" y="5000760"/>
            <a:ext cx="618804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Командный мини-проект: серверный ETL-сервис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s5-artifact 2"/>
          <p:cNvSpPr/>
          <p:nvPr/>
        </p:nvSpPr>
        <p:spPr>
          <a:xfrm>
            <a:off x="990720" y="5334120"/>
            <a:ext cx="101696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Команда импортирует грязные CSV/JSON из нескольких источников, параллельно очищает и дедуплицирует данные, сохраняет результат в PostgreSQL через UPSERT и предоставляет HTTP API, DLQ и метрики импорта.</a:t>
            </a:r>
            <a:endParaRPr b="0" lang="ru-RU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1772000" y="6451920"/>
            <a:ext cx="3304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fld id="{724D894C-C676-4139-ABBE-432DF0B59F9D}" type="slidenum">
              <a:rPr b="0" lang="ru-RU" sz="16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6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49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Скругленный прямоугольник 5"/>
          <p:cNvSpPr/>
          <p:nvPr/>
        </p:nvSpPr>
        <p:spPr>
          <a:xfrm>
            <a:off x="360000" y="504000"/>
            <a:ext cx="11520000" cy="6156000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t">
            <a:spAutoFit/>
          </a:bodyPr>
          <a:p>
            <a:endParaRPr b="0" lang="en-US" sz="1400" strike="noStrike" u="none">
              <a:solidFill>
                <a:srgbClr val="17324d"/>
              </a:solidFill>
              <a:uFillTx/>
              <a:latin typeface="Arial"/>
              <a:ea typeface="Arial"/>
            </a:endParaRPr>
          </a:p>
        </p:txBody>
      </p:sp>
      <p:sp>
        <p:nvSpPr>
          <p:cNvPr id="242" name="Прямоугольник 2"/>
          <p:cNvSpPr/>
          <p:nvPr/>
        </p:nvSpPr>
        <p:spPr>
          <a:xfrm>
            <a:off x="0" y="0"/>
            <a:ext cx="12191760" cy="456840"/>
          </a:xfrm>
          <a:prstGeom prst="rect">
            <a:avLst/>
          </a:prstGeom>
          <a:solidFill>
            <a:srgbClr val="06498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838080" y="461520"/>
            <a:ext cx="10397160" cy="8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32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Организация системы оценивания</a:t>
            </a:r>
            <a:endParaRPr b="0" lang="en-US" sz="232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44" name="Подзаголовок 1"/>
          <p:cNvSpPr/>
          <p:nvPr/>
        </p:nvSpPr>
        <p:spPr>
          <a:xfrm>
            <a:off x="723960" y="66600"/>
            <a:ext cx="105152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Golos Text"/>
                <a:ea typeface="Arial"/>
              </a:rPr>
              <a:t>Преподавание современного ИИ на топ-уровне: системное видение</a:t>
            </a:r>
            <a:endParaRPr b="0" lang="ru-RU" sz="1800" strike="noStrike" u="none">
              <a:solidFill>
                <a:srgbClr val="ffffff"/>
              </a:solidFill>
              <a:uFillTx/>
              <a:latin typeface="Golos Text"/>
            </a:endParaRPr>
          </a:p>
        </p:txBody>
      </p:sp>
      <p:graphicFrame>
        <p:nvGraphicFramePr>
          <p:cNvPr id="245" name="Таблица 5"/>
          <p:cNvGraphicFramePr/>
          <p:nvPr/>
        </p:nvGraphicFramePr>
        <p:xfrm>
          <a:off x="628920" y="1314720"/>
          <a:ext cx="6486120" cy="1873080"/>
        </p:xfrm>
        <a:graphic>
          <a:graphicData uri="http://schemas.openxmlformats.org/drawingml/2006/table">
            <a:tbl>
              <a:tblPr/>
              <a:tblGrid>
                <a:gridCol w="1066680"/>
                <a:gridCol w="857160"/>
                <a:gridCol w="4562280"/>
              </a:tblGrid>
              <a:tr h="354240">
                <a:tc>
                  <a:txBody>
                    <a:bodyPr lIns="75960" rIns="75960" tIns="47520" b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Индикатор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75960" marR="759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75960" rIns="75960" tIns="47520" b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Уровень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75960" marR="759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75960" rIns="75960" tIns="47520" b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Дескриптор освоения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75960" marR="759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</a:tr>
              <a:tr h="725400">
                <a:tc>
                  <a:txBody>
                    <a:bodyPr lIns="75960" rIns="75960" tIns="47520" b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17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LLM-5.1</a:t>
                      </a:r>
                      <a:endParaRPr b="0" lang="ru-RU" sz="117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75960" marR="759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47520" b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17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17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75960" marR="759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47520" b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17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Знает структуру промпта для вайб-кодинга, модель «Разработчик → ИИ-ассистент → результат» и требования к ИИ-артефактам.</a:t>
                      </a:r>
                      <a:endParaRPr b="0" lang="ru-RU" sz="117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75960" marR="759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93080">
                <a:tc>
                  <a:txBody>
                    <a:bodyPr lIns="75960" rIns="75960" tIns="47520" b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17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LLM-5.2</a:t>
                      </a:r>
                      <a:endParaRPr b="0" lang="ru-RU" sz="117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75960" marR="759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47520" b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17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Б</a:t>
                      </a:r>
                      <a:endParaRPr b="0" lang="ru-RU" sz="117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75960" marR="759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47520" bIns="4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17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Умеет применять ограниченные паттерны промптов: тест-план, тесты и анализ; проверяет ответы ИИ и фиксирует исправления.</a:t>
                      </a:r>
                      <a:endParaRPr b="0" lang="ru-RU" sz="117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75960" marR="759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6" name="s4-left-heading 1"/>
          <p:cNvSpPr/>
          <p:nvPr/>
        </p:nvSpPr>
        <p:spPr>
          <a:xfrm>
            <a:off x="7286040" y="1264320"/>
            <a:ext cx="30700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Единая 100-балльная модель</a:t>
            </a:r>
            <a:endParaRPr b="0" lang="ru-RU" sz="14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aphicFrame>
        <p:nvGraphicFramePr>
          <p:cNvPr id="247" name="Таблица 6"/>
          <p:cNvGraphicFramePr/>
          <p:nvPr/>
        </p:nvGraphicFramePr>
        <p:xfrm>
          <a:off x="7295040" y="1664280"/>
          <a:ext cx="3975840" cy="1458000"/>
        </p:xfrm>
        <a:graphic>
          <a:graphicData uri="http://schemas.openxmlformats.org/drawingml/2006/table">
            <a:tbl>
              <a:tblPr/>
              <a:tblGrid>
                <a:gridCol w="3043440"/>
                <a:gridCol w="932760"/>
              </a:tblGrid>
              <a:tr h="28620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Технический результат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35%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27972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Корректность, тесты, границы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25%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24552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Качество кода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10%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22068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Работа с ИИ и проверка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25%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24264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Воспроизводимость сдачи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5%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  <p:sp>
        <p:nvSpPr>
          <p:cNvPr id="248" name="s4-right-heading 1"/>
          <p:cNvSpPr/>
          <p:nvPr/>
        </p:nvSpPr>
        <p:spPr>
          <a:xfrm>
            <a:off x="628200" y="3330000"/>
            <a:ext cx="3975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Доказательства вместо запрета ИИ</a:t>
            </a:r>
            <a:endParaRPr b="0" lang="ru-RU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9" name="s4-process 1"/>
          <p:cNvSpPr/>
          <p:nvPr/>
        </p:nvSpPr>
        <p:spPr>
          <a:xfrm>
            <a:off x="628560" y="3789720"/>
            <a:ext cx="580356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270000" indent="-270000" defTabSz="914400">
              <a:lnSpc>
                <a:spcPct val="100000"/>
              </a:lnSpc>
              <a:spcAft>
                <a:spcPts val="11"/>
              </a:spcAft>
              <a:tabLst>
                <a:tab algn="l" pos="0"/>
              </a:tabLst>
            </a:pPr>
            <a:r>
              <a:rPr b="1" lang="en-US" sz="16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1. </a:t>
            </a:r>
            <a:r>
              <a:rPr b="0" lang="en-US" sz="16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Самостоятельное решение и утверждённые границы.</a:t>
            </a:r>
            <a:endParaRPr b="0" lang="ru-RU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70000" indent="-270000" defTabSz="914400">
              <a:lnSpc>
                <a:spcPct val="100000"/>
              </a:lnSpc>
              <a:spcAft>
                <a:spcPts val="11"/>
              </a:spcAft>
              <a:tabLst>
                <a:tab algn="l" pos="0"/>
              </a:tabLst>
            </a:pPr>
            <a:r>
              <a:rPr b="1" lang="en-US" sz="16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2. </a:t>
            </a:r>
            <a:r>
              <a:rPr b="0" lang="en-US" sz="16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Ограниченная задача агенту.</a:t>
            </a:r>
            <a:endParaRPr b="0" lang="ru-RU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70000" indent="-270000" defTabSz="914400">
              <a:lnSpc>
                <a:spcPct val="100000"/>
              </a:lnSpc>
              <a:spcAft>
                <a:spcPts val="11"/>
              </a:spcAft>
              <a:tabLst>
                <a:tab algn="l" pos="0"/>
              </a:tabLst>
            </a:pPr>
            <a:r>
              <a:rPr b="1" lang="en-US" sz="16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3. </a:t>
            </a:r>
            <a:r>
              <a:rPr b="0" lang="en-US" sz="16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Сохранённые prompt / response / diff.</a:t>
            </a:r>
            <a:endParaRPr b="0" lang="ru-RU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70000" indent="-270000" defTabSz="914400">
              <a:lnSpc>
                <a:spcPct val="100000"/>
              </a:lnSpc>
              <a:spcAft>
                <a:spcPts val="11"/>
              </a:spcAft>
              <a:tabLst>
                <a:tab algn="l" pos="0"/>
              </a:tabLst>
            </a:pPr>
            <a:r>
              <a:rPr b="1" lang="en-US" sz="16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4. </a:t>
            </a:r>
            <a:r>
              <a:rPr b="0" lang="en-US" sz="16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Сборка, тесты и обязательный сценарий.</a:t>
            </a:r>
            <a:endParaRPr b="0" lang="ru-RU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70000" indent="-270000" defTabSz="914400">
              <a:lnSpc>
                <a:spcPct val="100000"/>
              </a:lnSpc>
              <a:spcAft>
                <a:spcPts val="11"/>
              </a:spcAft>
              <a:tabLst>
                <a:tab algn="l" pos="0"/>
              </a:tabLst>
            </a:pPr>
            <a:r>
              <a:rPr b="1" lang="en-US" sz="16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5. </a:t>
            </a:r>
            <a:r>
              <a:rPr b="0" lang="en-US" sz="16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Журнал исправлений и устное объяснение.</a:t>
            </a:r>
            <a:endParaRPr b="0" lang="ru-RU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0" name="s4-conclusion-heading 1"/>
          <p:cNvSpPr/>
          <p:nvPr/>
        </p:nvSpPr>
        <p:spPr>
          <a:xfrm>
            <a:off x="821520" y="5200920"/>
            <a:ext cx="314028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Почему модель достаточна</a:t>
            </a:r>
            <a:endParaRPr b="0" lang="ru-RU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1" name="s4-conclusion 1"/>
          <p:cNvSpPr/>
          <p:nvPr/>
        </p:nvSpPr>
        <p:spPr>
          <a:xfrm>
            <a:off x="821520" y="5487120"/>
            <a:ext cx="101700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Оценивается цепочка проверяемых свидетельств, а не текст ответа. Неработающая сборка ограничивает итог 59 баллами; запрещённая передача самостоятельной части обнуляет ИИ-компонент и затронутый предметный критерий.</a:t>
            </a:r>
            <a:endParaRPr b="0" lang="ru-RU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2" name="s4-conclusion-band 1"/>
          <p:cNvSpPr/>
          <p:nvPr/>
        </p:nvSpPr>
        <p:spPr>
          <a:xfrm>
            <a:off x="612000" y="5132880"/>
            <a:ext cx="10627200" cy="911880"/>
          </a:xfrm>
          <a:prstGeom prst="roundRect">
            <a:avLst>
              <a:gd name="adj" fmla="val 7937"/>
            </a:avLst>
          </a:prstGeom>
          <a:noFill/>
          <a:ln w="9525">
            <a:solidFill>
              <a:srgbClr val="bcd0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3" name="s4-student-duty 1"/>
          <p:cNvSpPr/>
          <p:nvPr/>
        </p:nvSpPr>
        <p:spPr>
          <a:xfrm>
            <a:off x="761400" y="6064200"/>
            <a:ext cx="101318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Студент обязан воспроизвести запуск, объяснить код и показать, как проверял результат агента.</a:t>
            </a:r>
            <a:endParaRPr b="0" lang="ru-RU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1772000" y="6451920"/>
            <a:ext cx="3304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fld id="{8F66F426-A0AD-4DF4-A236-9E2641C4B078}" type="slidenum">
              <a:rPr b="0" lang="ru-RU" sz="16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6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49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Скругленный прямоугольник 6"/>
          <p:cNvSpPr/>
          <p:nvPr/>
        </p:nvSpPr>
        <p:spPr>
          <a:xfrm>
            <a:off x="360000" y="504000"/>
            <a:ext cx="11520000" cy="6156000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t">
            <a:spAutoFit/>
          </a:bodyPr>
          <a:p>
            <a:endParaRPr b="0" lang="en-US" sz="1400" strike="noStrike" u="none">
              <a:solidFill>
                <a:srgbClr val="17324d"/>
              </a:solidFill>
              <a:uFillTx/>
              <a:latin typeface="Arial"/>
              <a:ea typeface="Arial"/>
            </a:endParaRPr>
          </a:p>
        </p:txBody>
      </p:sp>
      <p:sp>
        <p:nvSpPr>
          <p:cNvPr id="256" name="Прямоугольник 4"/>
          <p:cNvSpPr/>
          <p:nvPr/>
        </p:nvSpPr>
        <p:spPr>
          <a:xfrm>
            <a:off x="0" y="0"/>
            <a:ext cx="12191760" cy="456840"/>
          </a:xfrm>
          <a:prstGeom prst="rect">
            <a:avLst/>
          </a:prstGeom>
          <a:solidFill>
            <a:srgbClr val="06498f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838080" y="461520"/>
            <a:ext cx="10397160" cy="8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32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Git-репозиторий как цифровой учебный продукт</a:t>
            </a:r>
            <a:endParaRPr b="0" lang="en-US" sz="232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58" name="Подзаголовок 3"/>
          <p:cNvSpPr/>
          <p:nvPr/>
        </p:nvSpPr>
        <p:spPr>
          <a:xfrm>
            <a:off x="723960" y="66600"/>
            <a:ext cx="105152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Golos Text"/>
                <a:ea typeface="Arial"/>
              </a:rPr>
              <a:t>Преподавание современного ИИ на топ-уровне: системное видение</a:t>
            </a:r>
            <a:endParaRPr b="0" lang="ru-RU" sz="1800" strike="noStrike" u="none">
              <a:solidFill>
                <a:srgbClr val="ffffff"/>
              </a:solidFill>
              <a:uFillTx/>
              <a:latin typeface="Golos Text"/>
            </a:endParaRPr>
          </a:p>
        </p:txBody>
      </p:sp>
      <p:graphicFrame>
        <p:nvGraphicFramePr>
          <p:cNvPr id="259" name="Таблица 2"/>
          <p:cNvGraphicFramePr/>
          <p:nvPr/>
        </p:nvGraphicFramePr>
        <p:xfrm>
          <a:off x="738720" y="1354320"/>
          <a:ext cx="10714680" cy="2989440"/>
        </p:xfrm>
        <a:graphic>
          <a:graphicData uri="http://schemas.openxmlformats.org/drawingml/2006/table">
            <a:tbl>
              <a:tblPr/>
              <a:tblGrid>
                <a:gridCol w="2238120"/>
                <a:gridCol w="3047760"/>
                <a:gridCol w="5429160"/>
              </a:tblGrid>
              <a:tr h="49824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Раздел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Каталоги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Содержание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498f"/>
                    </a:solidFill>
                  </a:tcPr>
                </a:tc>
              </a:tr>
              <a:tr h="49824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Учебный маршрут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Modules/ · Project/ · Exam/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15 индивидуальных КИМ, командный ETL-проект, 47 вопросов и генератор 25 билетов.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824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Оценивание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methodical-guidelines/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16 тематических рубрик, 20 сквозных вариантов лабораторных работ, материалы для студентов и преподавателей.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824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Ресурсы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resources/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Стартовые датасеты, инструкции по промптам, статьи и литература.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824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Документы и исходники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docs/ · data/ · meta/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РПД, чек-лист качества, исходные DOCX/XLSX и требования к проекту.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824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rgbClr val="06498f"/>
                          </a:solidFill>
                          <a:uFillTx/>
                          <a:latin typeface="Arial"/>
                          <a:ea typeface="Arial"/>
                        </a:rPr>
                        <a:t>Команда и лицензия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team/ · LICENSE.md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17324d"/>
                          </a:solidFill>
                          <a:uFillTx/>
                          <a:latin typeface="Arial"/>
                          <a:ea typeface="Arial"/>
                        </a:rPr>
                        <a:t>Авторы, роли и вклад; открытая лицензия CC BY 4.0.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0" name="s6-result-band 1"/>
          <p:cNvSpPr/>
          <p:nvPr/>
        </p:nvSpPr>
        <p:spPr>
          <a:xfrm>
            <a:off x="736200" y="5097600"/>
            <a:ext cx="7667280" cy="1382400"/>
          </a:xfrm>
          <a:prstGeom prst="roundRect">
            <a:avLst>
              <a:gd name="adj" fmla="val 12195"/>
            </a:avLst>
          </a:prstGeom>
          <a:noFill/>
          <a:ln w="9525">
            <a:solidFill>
              <a:srgbClr val="bcd0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1" name="s6-result-heading 1"/>
          <p:cNvSpPr/>
          <p:nvPr/>
        </p:nvSpPr>
        <p:spPr>
          <a:xfrm>
            <a:off x="945720" y="5183280"/>
            <a:ext cx="23810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498f"/>
                </a:solidFill>
                <a:uFillTx/>
                <a:latin typeface="Arial"/>
                <a:ea typeface="Arial"/>
              </a:rPr>
              <a:t>Результат проекта</a:t>
            </a:r>
            <a:endParaRPr b="0" lang="ru-RU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2" name="s6-result 1"/>
          <p:cNvSpPr/>
          <p:nvPr/>
        </p:nvSpPr>
        <p:spPr>
          <a:xfrm>
            <a:off x="945720" y="5440320"/>
            <a:ext cx="7191000" cy="85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17324d"/>
                </a:solidFill>
                <a:uFillTx/>
                <a:latin typeface="Arial"/>
                <a:ea typeface="Arial"/>
              </a:rPr>
              <a:t>Готовый открытый учебно-методический продукт: РПД, лабораторные работы, ФОС, данные, инструкции и экзаменационные материалы связаны в одном репозитории</a:t>
            </a:r>
            <a:endParaRPr b="0" lang="ru-RU" sz="128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28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008b"/>
                </a:solidFill>
                <a:uFillTx/>
                <a:latin typeface="Arial"/>
                <a:ea typeface="Arial"/>
              </a:rPr>
              <a:t>https://github.com/Stasychbr/top_ai_2026</a:t>
            </a:r>
            <a:endParaRPr b="0" lang="ru-RU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63" name="" descr=""/>
          <p:cNvPicPr/>
          <p:nvPr/>
        </p:nvPicPr>
        <p:blipFill>
          <a:blip r:embed="rId1"/>
          <a:stretch/>
        </p:blipFill>
        <p:spPr>
          <a:xfrm>
            <a:off x="9033840" y="4644000"/>
            <a:ext cx="1951560" cy="1951560"/>
          </a:xfrm>
          <a:prstGeom prst="rect">
            <a:avLst/>
          </a:prstGeom>
          <a:ln w="0">
            <a:noFill/>
          </a:ln>
        </p:spPr>
      </p:pic>
      <p:sp>
        <p:nvSpPr>
          <p:cNvPr id="264" name=""/>
          <p:cNvSpPr txBox="1"/>
          <p:nvPr/>
        </p:nvSpPr>
        <p:spPr>
          <a:xfrm>
            <a:off x="11772000" y="6451920"/>
            <a:ext cx="3304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fld id="{5C411E0A-ECE3-4509-B678-EBCF0D1A2A2D}" type="slidenum">
              <a:rPr b="0" lang="ru-RU" sz="16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6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Рисунок 1" descr=""/>
          <p:cNvPicPr/>
          <p:nvPr/>
        </p:nvPicPr>
        <p:blipFill>
          <a:blip r:embed="rId1"/>
          <a:stretch/>
        </p:blipFill>
        <p:spPr>
          <a:xfrm>
            <a:off x="0" y="1075320"/>
            <a:ext cx="845640" cy="1932480"/>
          </a:xfrm>
          <a:prstGeom prst="rect">
            <a:avLst/>
          </a:prstGeom>
          <a:ln w="0">
            <a:noFill/>
          </a:ln>
        </p:spPr>
      </p:pic>
      <p:sp>
        <p:nvSpPr>
          <p:cNvPr id="266" name="Прямоугольник 1"/>
          <p:cNvSpPr/>
          <p:nvPr/>
        </p:nvSpPr>
        <p:spPr>
          <a:xfrm>
            <a:off x="0" y="2519640"/>
            <a:ext cx="12189240" cy="251892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267" name="Рисунок 2" descr=""/>
          <p:cNvPicPr/>
          <p:nvPr/>
        </p:nvPicPr>
        <p:blipFill>
          <a:blip r:embed="rId2"/>
          <a:stretch/>
        </p:blipFill>
        <p:spPr>
          <a:xfrm>
            <a:off x="8764200" y="1362960"/>
            <a:ext cx="3424680" cy="4805640"/>
          </a:xfrm>
          <a:prstGeom prst="rect">
            <a:avLst/>
          </a:prstGeom>
          <a:ln w="0">
            <a:noFill/>
          </a:ln>
        </p:spPr>
      </p:pic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1260000" y="2916000"/>
            <a:ext cx="9141120" cy="17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55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СПАСИБО ЗА ВНИМАНИЕ!</a:t>
            </a:r>
            <a:endParaRPr b="0" lang="en-US" sz="255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pic>
        <p:nvPicPr>
          <p:cNvPr id="269" name="Рисунок 3" descr=""/>
          <p:cNvPicPr/>
          <p:nvPr/>
        </p:nvPicPr>
        <p:blipFill>
          <a:blip r:embed="rId3"/>
          <a:stretch/>
        </p:blipFill>
        <p:spPr>
          <a:xfrm>
            <a:off x="676440" y="386280"/>
            <a:ext cx="5319360" cy="326880"/>
          </a:xfrm>
          <a:prstGeom prst="rect">
            <a:avLst/>
          </a:prstGeom>
          <a:ln w="0">
            <a:noFill/>
          </a:ln>
        </p:spPr>
      </p:pic>
      <p:pic>
        <p:nvPicPr>
          <p:cNvPr id="270" name="Рисунок 5" descr=""/>
          <p:cNvPicPr/>
          <p:nvPr/>
        </p:nvPicPr>
        <p:blipFill>
          <a:blip r:embed="rId4"/>
          <a:stretch/>
        </p:blipFill>
        <p:spPr>
          <a:xfrm>
            <a:off x="9823320" y="391680"/>
            <a:ext cx="1689480" cy="326880"/>
          </a:xfrm>
          <a:prstGeom prst="rect">
            <a:avLst/>
          </a:prstGeom>
          <a:ln w="0">
            <a:noFill/>
          </a:ln>
        </p:spPr>
      </p:pic>
      <p:sp>
        <p:nvSpPr>
          <p:cNvPr id="271" name=""/>
          <p:cNvSpPr txBox="1"/>
          <p:nvPr/>
        </p:nvSpPr>
        <p:spPr>
          <a:xfrm>
            <a:off x="11772000" y="6451920"/>
            <a:ext cx="3304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fld id="{A8C8AD99-EA82-4362-BF26-5027B374478A}" type="slidenum">
              <a:rPr b="0" lang="ru-RU" sz="1600" strike="noStrike" u="none">
                <a:solidFill>
                  <a:srgbClr val="00008b"/>
                </a:solidFill>
                <a:uFillTx/>
                <a:latin typeface="Times New Roman"/>
              </a:rPr>
              <a:t>&lt;номер&gt;</a:t>
            </a:fld>
            <a:endParaRPr b="0" lang="ru-RU" sz="1600" strike="noStrike" u="none">
              <a:solidFill>
                <a:srgbClr val="00008b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Application>LibreOffice/24.8.3.1$Windows_X86_64 LibreOffice_project/65412f067af443213e726c93f137ccc85c9a1e06</Application>
  <AppVersion>15.0000</AppVersion>
  <Words>1703</Words>
  <Paragraphs>302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2026-07-29T09:29:56Z</dcterms:created>
  <dc:creator>Walnut Exporter</dc:creator>
  <dc:description/>
  <dc:language>ru-RU</dc:language>
  <cp:lastModifiedBy>А М Гостин</cp:lastModifiedBy>
  <dcterms:modified xsi:type="dcterms:W3CDTF">2026-07-29T16:32:11Z</dcterms:modified>
  <cp:revision>9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8</vt:i4>
  </property>
</Properties>
</file>